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1"/>
  </p:notesMasterIdLst>
  <p:sldIdLst>
    <p:sldId id="256" r:id="rId3"/>
    <p:sldId id="315" r:id="rId4"/>
    <p:sldId id="265" r:id="rId5"/>
    <p:sldId id="323" r:id="rId6"/>
    <p:sldId id="257" r:id="rId7"/>
    <p:sldId id="312" r:id="rId8"/>
    <p:sldId id="334" r:id="rId9"/>
    <p:sldId id="329" r:id="rId10"/>
    <p:sldId id="331" r:id="rId11"/>
    <p:sldId id="332" r:id="rId12"/>
    <p:sldId id="333" r:id="rId13"/>
    <p:sldId id="262" r:id="rId14"/>
    <p:sldId id="324" r:id="rId15"/>
    <p:sldId id="325" r:id="rId16"/>
    <p:sldId id="326" r:id="rId17"/>
    <p:sldId id="330" r:id="rId18"/>
    <p:sldId id="327" r:id="rId19"/>
    <p:sldId id="328"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9" autoAdjust="0"/>
    <p:restoredTop sz="94660"/>
  </p:normalViewPr>
  <p:slideViewPr>
    <p:cSldViewPr snapToGrid="0">
      <p:cViewPr varScale="1">
        <p:scale>
          <a:sx n="103" d="100"/>
          <a:sy n="103" d="100"/>
        </p:scale>
        <p:origin x="677"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015625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768536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r>
              <a:rPr lang="en-US"/>
              <a:t>Click to edit Master subtitle style</a:t>
            </a:r>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en-US"/>
              <a:t>Click to edit Master text styles</a:t>
            </a: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a:t>Click to edit Master title style</a:t>
            </a:r>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en-US"/>
              <a:t>Click to edit Master title style</a:t>
            </a:r>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en-US"/>
              <a:t>Click to edit Master text styles</a:t>
            </a: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pPr lvl="0"/>
            <a:r>
              <a:rPr lang="en-US"/>
              <a:t>Click to edit Master text styles</a:t>
            </a: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n-US"/>
              <a:t>Click to edit Master text styles</a:t>
            </a: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EAE52-5C67-5A32-3976-E2A5E7D62C4B}"/>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5647AC34-D7D2-B3DD-4E72-6F60A90FE2F5}"/>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2708976-B79C-818F-4305-B8994E407F46}"/>
              </a:ext>
            </a:extLst>
          </p:cNvPr>
          <p:cNvSpPr>
            <a:spLocks noGrp="1"/>
          </p:cNvSpPr>
          <p:nvPr>
            <p:ph type="dt" sz="half" idx="10"/>
          </p:nvPr>
        </p:nvSpPr>
        <p:spPr/>
        <p:txBody>
          <a:bodyPr/>
          <a:lstStyle/>
          <a:p>
            <a:fld id="{4CF4ACE6-303E-4205-95AF-A78A17F8689D}" type="datetimeFigureOut">
              <a:rPr lang="en-IN" smtClean="0"/>
              <a:t>13-02-2026</a:t>
            </a:fld>
            <a:endParaRPr lang="en-IN"/>
          </a:p>
        </p:txBody>
      </p:sp>
      <p:sp>
        <p:nvSpPr>
          <p:cNvPr id="5" name="Footer Placeholder 4">
            <a:extLst>
              <a:ext uri="{FF2B5EF4-FFF2-40B4-BE49-F238E27FC236}">
                <a16:creationId xmlns:a16="http://schemas.microsoft.com/office/drawing/2014/main" id="{B4A3A9F7-2A9F-349A-1005-E5B6EF7A1E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8852A0-9190-BDA7-2352-427C8B7D445A}"/>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2039480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32A58-5A9E-FFE3-C997-9287CC9EFB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AAD889-3D4F-FCA9-61E0-F7791769E0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ECA5F6-0EB5-D2BC-29F6-1AD439FCFA40}"/>
              </a:ext>
            </a:extLst>
          </p:cNvPr>
          <p:cNvSpPr>
            <a:spLocks noGrp="1"/>
          </p:cNvSpPr>
          <p:nvPr>
            <p:ph type="dt" sz="half" idx="10"/>
          </p:nvPr>
        </p:nvSpPr>
        <p:spPr/>
        <p:txBody>
          <a:bodyPr/>
          <a:lstStyle/>
          <a:p>
            <a:fld id="{4CF4ACE6-303E-4205-95AF-A78A17F8689D}" type="datetimeFigureOut">
              <a:rPr lang="en-IN" smtClean="0"/>
              <a:t>13-02-2026</a:t>
            </a:fld>
            <a:endParaRPr lang="en-IN"/>
          </a:p>
        </p:txBody>
      </p:sp>
      <p:sp>
        <p:nvSpPr>
          <p:cNvPr id="5" name="Footer Placeholder 4">
            <a:extLst>
              <a:ext uri="{FF2B5EF4-FFF2-40B4-BE49-F238E27FC236}">
                <a16:creationId xmlns:a16="http://schemas.microsoft.com/office/drawing/2014/main" id="{BCAF69F4-DB1E-C4B7-761C-9EBC5F1BBC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D593A9-F3D0-2A09-7A56-D93EEE269C77}"/>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424986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43FA0-801D-C1F1-F3FE-1AF83C2CDF17}"/>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292161E-6966-C110-1073-7D15A59668B3}"/>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050A23-0A98-6BE3-A34E-C45F2A6D4F7D}"/>
              </a:ext>
            </a:extLst>
          </p:cNvPr>
          <p:cNvSpPr>
            <a:spLocks noGrp="1"/>
          </p:cNvSpPr>
          <p:nvPr>
            <p:ph type="dt" sz="half" idx="10"/>
          </p:nvPr>
        </p:nvSpPr>
        <p:spPr/>
        <p:txBody>
          <a:bodyPr/>
          <a:lstStyle/>
          <a:p>
            <a:fld id="{4CF4ACE6-303E-4205-95AF-A78A17F8689D}" type="datetimeFigureOut">
              <a:rPr lang="en-IN" smtClean="0"/>
              <a:t>13-02-2026</a:t>
            </a:fld>
            <a:endParaRPr lang="en-IN"/>
          </a:p>
        </p:txBody>
      </p:sp>
      <p:sp>
        <p:nvSpPr>
          <p:cNvPr id="5" name="Footer Placeholder 4">
            <a:extLst>
              <a:ext uri="{FF2B5EF4-FFF2-40B4-BE49-F238E27FC236}">
                <a16:creationId xmlns:a16="http://schemas.microsoft.com/office/drawing/2014/main" id="{129367EB-A70A-2A78-2120-73A661BE8E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CE2785-1C02-CA8E-F7AA-FBE812C652A5}"/>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9742092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577C-B47A-09A1-A631-44B29F173C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FCF62F-23AF-100C-6F99-DCC56A3230FB}"/>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D059F95-21D4-4256-71D0-8A7FD0B9D649}"/>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89E1CC-D332-7A91-F114-C95149E2C830}"/>
              </a:ext>
            </a:extLst>
          </p:cNvPr>
          <p:cNvSpPr>
            <a:spLocks noGrp="1"/>
          </p:cNvSpPr>
          <p:nvPr>
            <p:ph type="dt" sz="half" idx="10"/>
          </p:nvPr>
        </p:nvSpPr>
        <p:spPr/>
        <p:txBody>
          <a:bodyPr/>
          <a:lstStyle/>
          <a:p>
            <a:fld id="{4CF4ACE6-303E-4205-95AF-A78A17F8689D}" type="datetimeFigureOut">
              <a:rPr lang="en-IN" smtClean="0"/>
              <a:t>13-02-2026</a:t>
            </a:fld>
            <a:endParaRPr lang="en-IN"/>
          </a:p>
        </p:txBody>
      </p:sp>
      <p:sp>
        <p:nvSpPr>
          <p:cNvPr id="6" name="Footer Placeholder 5">
            <a:extLst>
              <a:ext uri="{FF2B5EF4-FFF2-40B4-BE49-F238E27FC236}">
                <a16:creationId xmlns:a16="http://schemas.microsoft.com/office/drawing/2014/main" id="{A61B0877-622B-D8BC-900A-6D7BE8BE4C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DC2661-CB90-BE8F-C510-EA70BF8A55AD}"/>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2671357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2796D-FF8C-7B81-7943-3354ED7E1A03}"/>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BF1034-3DF3-1510-E5DF-7FBF08B59084}"/>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C430B0C-368B-4ADE-8AA4-48308ADEAF9A}"/>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08B249-32F9-6F51-E267-64B28A71EADD}"/>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393A268-B2F8-3D63-0637-3AC41C9168F8}"/>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B30E731-E7BF-6407-6B29-FC82DBBC674C}"/>
              </a:ext>
            </a:extLst>
          </p:cNvPr>
          <p:cNvSpPr>
            <a:spLocks noGrp="1"/>
          </p:cNvSpPr>
          <p:nvPr>
            <p:ph type="dt" sz="half" idx="10"/>
          </p:nvPr>
        </p:nvSpPr>
        <p:spPr/>
        <p:txBody>
          <a:bodyPr/>
          <a:lstStyle/>
          <a:p>
            <a:fld id="{4CF4ACE6-303E-4205-95AF-A78A17F8689D}" type="datetimeFigureOut">
              <a:rPr lang="en-IN" smtClean="0"/>
              <a:t>13-02-2026</a:t>
            </a:fld>
            <a:endParaRPr lang="en-IN"/>
          </a:p>
        </p:txBody>
      </p:sp>
      <p:sp>
        <p:nvSpPr>
          <p:cNvPr id="8" name="Footer Placeholder 7">
            <a:extLst>
              <a:ext uri="{FF2B5EF4-FFF2-40B4-BE49-F238E27FC236}">
                <a16:creationId xmlns:a16="http://schemas.microsoft.com/office/drawing/2014/main" id="{FA95D1D8-B7C1-40BF-0072-1C5505592B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4AFE0A-5A13-29F9-00A9-DD2A10FB94AF}"/>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14723691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D50E6-AA72-12A2-B9FD-093063A6282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A7EBBFB-329B-C6DB-04E8-A55413A0E414}"/>
              </a:ext>
            </a:extLst>
          </p:cNvPr>
          <p:cNvSpPr>
            <a:spLocks noGrp="1"/>
          </p:cNvSpPr>
          <p:nvPr>
            <p:ph type="dt" sz="half" idx="10"/>
          </p:nvPr>
        </p:nvSpPr>
        <p:spPr/>
        <p:txBody>
          <a:bodyPr/>
          <a:lstStyle/>
          <a:p>
            <a:fld id="{4CF4ACE6-303E-4205-95AF-A78A17F8689D}" type="datetimeFigureOut">
              <a:rPr lang="en-IN" smtClean="0"/>
              <a:t>13-02-2026</a:t>
            </a:fld>
            <a:endParaRPr lang="en-IN"/>
          </a:p>
        </p:txBody>
      </p:sp>
      <p:sp>
        <p:nvSpPr>
          <p:cNvPr id="4" name="Footer Placeholder 3">
            <a:extLst>
              <a:ext uri="{FF2B5EF4-FFF2-40B4-BE49-F238E27FC236}">
                <a16:creationId xmlns:a16="http://schemas.microsoft.com/office/drawing/2014/main" id="{D9ADFAB5-E309-0C4D-1F17-58E8AC5F282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6FA0684-C900-DD40-1106-0A227C9AE21B}"/>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38757985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0F3C89-7746-7939-3F09-40E1102B471C}"/>
              </a:ext>
            </a:extLst>
          </p:cNvPr>
          <p:cNvSpPr>
            <a:spLocks noGrp="1"/>
          </p:cNvSpPr>
          <p:nvPr>
            <p:ph type="dt" sz="half" idx="10"/>
          </p:nvPr>
        </p:nvSpPr>
        <p:spPr/>
        <p:txBody>
          <a:bodyPr/>
          <a:lstStyle/>
          <a:p>
            <a:fld id="{4CF4ACE6-303E-4205-95AF-A78A17F8689D}" type="datetimeFigureOut">
              <a:rPr lang="en-IN" smtClean="0"/>
              <a:t>13-02-2026</a:t>
            </a:fld>
            <a:endParaRPr lang="en-IN"/>
          </a:p>
        </p:txBody>
      </p:sp>
      <p:sp>
        <p:nvSpPr>
          <p:cNvPr id="3" name="Footer Placeholder 2">
            <a:extLst>
              <a:ext uri="{FF2B5EF4-FFF2-40B4-BE49-F238E27FC236}">
                <a16:creationId xmlns:a16="http://schemas.microsoft.com/office/drawing/2014/main" id="{A1C27F03-B2A2-2E48-A71B-290D1B0A2B5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FE52B76-2F63-1E4F-B5B2-E663161EAD90}"/>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2195782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948E1-749F-B89E-406C-F3A1796DE5F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5DAFEB2-868C-E2BB-0FFC-5F63FFF98841}"/>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9B060E-87BE-D48B-B25C-0795483EF70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97A72EE-DA18-4F8F-17A9-0F761976D443}"/>
              </a:ext>
            </a:extLst>
          </p:cNvPr>
          <p:cNvSpPr>
            <a:spLocks noGrp="1"/>
          </p:cNvSpPr>
          <p:nvPr>
            <p:ph type="dt" sz="half" idx="10"/>
          </p:nvPr>
        </p:nvSpPr>
        <p:spPr/>
        <p:txBody>
          <a:bodyPr/>
          <a:lstStyle/>
          <a:p>
            <a:fld id="{4CF4ACE6-303E-4205-95AF-A78A17F8689D}" type="datetimeFigureOut">
              <a:rPr lang="en-IN" smtClean="0"/>
              <a:t>13-02-2026</a:t>
            </a:fld>
            <a:endParaRPr lang="en-IN"/>
          </a:p>
        </p:txBody>
      </p:sp>
      <p:sp>
        <p:nvSpPr>
          <p:cNvPr id="6" name="Footer Placeholder 5">
            <a:extLst>
              <a:ext uri="{FF2B5EF4-FFF2-40B4-BE49-F238E27FC236}">
                <a16:creationId xmlns:a16="http://schemas.microsoft.com/office/drawing/2014/main" id="{F921E3A3-E462-7890-3F87-6C021F6D1C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276656-FCFE-3B24-47CB-524BA1BC3C39}"/>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12735714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7B300-61CF-5A3A-4CAE-BBB00318528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9AF28B2-0DD6-FBA8-2A8C-9D0AC60FAEEC}"/>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DB59AAF5-C145-623D-4480-ABE206A02055}"/>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142492C-0539-A488-6FBF-09D217C4ADDD}"/>
              </a:ext>
            </a:extLst>
          </p:cNvPr>
          <p:cNvSpPr>
            <a:spLocks noGrp="1"/>
          </p:cNvSpPr>
          <p:nvPr>
            <p:ph type="dt" sz="half" idx="10"/>
          </p:nvPr>
        </p:nvSpPr>
        <p:spPr/>
        <p:txBody>
          <a:bodyPr/>
          <a:lstStyle/>
          <a:p>
            <a:fld id="{4CF4ACE6-303E-4205-95AF-A78A17F8689D}" type="datetimeFigureOut">
              <a:rPr lang="en-IN" smtClean="0"/>
              <a:t>13-02-2026</a:t>
            </a:fld>
            <a:endParaRPr lang="en-IN"/>
          </a:p>
        </p:txBody>
      </p:sp>
      <p:sp>
        <p:nvSpPr>
          <p:cNvPr id="6" name="Footer Placeholder 5">
            <a:extLst>
              <a:ext uri="{FF2B5EF4-FFF2-40B4-BE49-F238E27FC236}">
                <a16:creationId xmlns:a16="http://schemas.microsoft.com/office/drawing/2014/main" id="{F87D5A19-F267-760E-54F2-ECB0285342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98AC19-6918-9949-4C62-EDBF41A1CA1C}"/>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24345030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B3BC1-8DC6-95FB-0948-10638B9727F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1016B0-8B7D-4962-989C-7D69C6B86D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15AFFC-0255-2164-F74E-067FE8A0E915}"/>
              </a:ext>
            </a:extLst>
          </p:cNvPr>
          <p:cNvSpPr>
            <a:spLocks noGrp="1"/>
          </p:cNvSpPr>
          <p:nvPr>
            <p:ph type="dt" sz="half" idx="10"/>
          </p:nvPr>
        </p:nvSpPr>
        <p:spPr/>
        <p:txBody>
          <a:bodyPr/>
          <a:lstStyle/>
          <a:p>
            <a:fld id="{4CF4ACE6-303E-4205-95AF-A78A17F8689D}" type="datetimeFigureOut">
              <a:rPr lang="en-IN" smtClean="0"/>
              <a:t>13-02-2026</a:t>
            </a:fld>
            <a:endParaRPr lang="en-IN"/>
          </a:p>
        </p:txBody>
      </p:sp>
      <p:sp>
        <p:nvSpPr>
          <p:cNvPr id="5" name="Footer Placeholder 4">
            <a:extLst>
              <a:ext uri="{FF2B5EF4-FFF2-40B4-BE49-F238E27FC236}">
                <a16:creationId xmlns:a16="http://schemas.microsoft.com/office/drawing/2014/main" id="{3E65B2FD-D26C-3E01-A9F0-31A454DB05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3B40F3-E6BD-1213-83A7-CA0F21D607B3}"/>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18880075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2912DD-201E-A25D-3B37-C4124B041F3E}"/>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22CB40-4888-092E-FD14-D928C10004E5}"/>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591E15-0DD5-4640-76AD-5EEE83CAFF5A}"/>
              </a:ext>
            </a:extLst>
          </p:cNvPr>
          <p:cNvSpPr>
            <a:spLocks noGrp="1"/>
          </p:cNvSpPr>
          <p:nvPr>
            <p:ph type="dt" sz="half" idx="10"/>
          </p:nvPr>
        </p:nvSpPr>
        <p:spPr/>
        <p:txBody>
          <a:bodyPr/>
          <a:lstStyle/>
          <a:p>
            <a:fld id="{4CF4ACE6-303E-4205-95AF-A78A17F8689D}" type="datetimeFigureOut">
              <a:rPr lang="en-IN" smtClean="0"/>
              <a:t>13-02-2026</a:t>
            </a:fld>
            <a:endParaRPr lang="en-IN"/>
          </a:p>
        </p:txBody>
      </p:sp>
      <p:sp>
        <p:nvSpPr>
          <p:cNvPr id="5" name="Footer Placeholder 4">
            <a:extLst>
              <a:ext uri="{FF2B5EF4-FFF2-40B4-BE49-F238E27FC236}">
                <a16:creationId xmlns:a16="http://schemas.microsoft.com/office/drawing/2014/main" id="{2E446551-4BEF-CA79-0C19-058F9CDCFE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DD55BB-653D-0AA0-8477-144411178B31}"/>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19671558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IN" smtClean="0"/>
              <a:pPr/>
              <a:t>‹#›</a:t>
            </a:fld>
            <a:endParaRPr lang="en-IN"/>
          </a:p>
        </p:txBody>
      </p:sp>
    </p:spTree>
    <p:extLst>
      <p:ext uri="{BB962C8B-B14F-4D97-AF65-F5344CB8AC3E}">
        <p14:creationId xmlns:p14="http://schemas.microsoft.com/office/powerpoint/2010/main" val="1650976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F51F17-9079-1432-8792-3D7E9E8A7BF7}"/>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DCE96F-F318-F972-9455-662973B14317}"/>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8B3970-12D3-FBC7-8A03-1750D3590228}"/>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CF4ACE6-303E-4205-95AF-A78A17F8689D}" type="datetimeFigureOut">
              <a:rPr lang="en-IN" smtClean="0"/>
              <a:t>13-02-2026</a:t>
            </a:fld>
            <a:endParaRPr lang="en-IN"/>
          </a:p>
        </p:txBody>
      </p:sp>
      <p:sp>
        <p:nvSpPr>
          <p:cNvPr id="5" name="Footer Placeholder 4">
            <a:extLst>
              <a:ext uri="{FF2B5EF4-FFF2-40B4-BE49-F238E27FC236}">
                <a16:creationId xmlns:a16="http://schemas.microsoft.com/office/drawing/2014/main" id="{D7BAF491-0B94-2ED9-08E7-2B5DF8CE5A1B}"/>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C24444-9B02-87D8-ABEA-113B881FDF35}"/>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D978B93-437E-4C71-B138-CC2EF4E6012C}" type="slidenum">
              <a:rPr lang="en-IN" smtClean="0"/>
              <a:t>‹#›</a:t>
            </a:fld>
            <a:endParaRPr lang="en-IN"/>
          </a:p>
        </p:txBody>
      </p:sp>
    </p:spTree>
    <p:extLst>
      <p:ext uri="{BB962C8B-B14F-4D97-AF65-F5344CB8AC3E}">
        <p14:creationId xmlns:p14="http://schemas.microsoft.com/office/powerpoint/2010/main" val="34671980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hyperlink" Target="https://www.mdpi.com/2076-3417/13/12/6916"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0" y="558808"/>
            <a:ext cx="9144000" cy="1007533"/>
          </a:xfrm>
          <a:prstGeom prst="rect">
            <a:avLst/>
          </a:prstGeom>
        </p:spPr>
        <p:txBody>
          <a:bodyPr spcFirstLastPara="1" wrap="square" lIns="91425" tIns="91425" rIns="91425" bIns="91425" anchor="b" anchorCtr="0">
            <a:noAutofit/>
          </a:bodyPr>
          <a:lstStyle/>
          <a:p>
            <a:pPr lvl="0"/>
            <a:br>
              <a:rPr lang="en" sz="2400" b="1" dirty="0">
                <a:latin typeface="Times New Roman" panose="02020603050405020304" pitchFamily="18" charset="0"/>
                <a:cs typeface="Times New Roman" panose="02020603050405020304" pitchFamily="18" charset="0"/>
              </a:rPr>
            </a:br>
            <a:br>
              <a:rPr lang="en" sz="2400" b="1" dirty="0">
                <a:latin typeface="Times New Roman" panose="02020603050405020304" pitchFamily="18" charset="0"/>
                <a:cs typeface="Times New Roman" panose="02020603050405020304" pitchFamily="18" charset="0"/>
              </a:rPr>
            </a:br>
            <a:br>
              <a:rPr lang="en"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Gokaraju Rangaraju Institute of Engineering and Technology </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(Autonomous)</a:t>
            </a:r>
            <a:br>
              <a:rPr lang="en" sz="2400" b="1" dirty="0">
                <a:latin typeface="Times New Roman" panose="02020603050405020304" pitchFamily="18" charset="0"/>
                <a:cs typeface="Times New Roman" panose="02020603050405020304" pitchFamily="18" charset="0"/>
              </a:rPr>
            </a:br>
            <a:r>
              <a:rPr lang="en" sz="2000" b="1" dirty="0">
                <a:latin typeface="Times New Roman" panose="02020603050405020304" pitchFamily="18" charset="0"/>
                <a:cs typeface="Times New Roman" panose="02020603050405020304" pitchFamily="18" charset="0"/>
              </a:rPr>
              <a:t>Department of CSE(AI&amp;ML)</a:t>
            </a:r>
            <a:endParaRPr sz="2000" b="1" dirty="0">
              <a:latin typeface="Times New Roman" panose="02020603050405020304" pitchFamily="18" charset="0"/>
              <a:cs typeface="Times New Roman" panose="02020603050405020304" pitchFamily="18" charset="0"/>
            </a:endParaRPr>
          </a:p>
        </p:txBody>
      </p:sp>
      <p:sp>
        <p:nvSpPr>
          <p:cNvPr id="55" name="Google Shape;55;p13"/>
          <p:cNvSpPr txBox="1">
            <a:spLocks noGrp="1"/>
          </p:cNvSpPr>
          <p:nvPr>
            <p:ph type="subTitle" idx="1"/>
          </p:nvPr>
        </p:nvSpPr>
        <p:spPr>
          <a:xfrm>
            <a:off x="242623" y="23889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US" sz="3200" b="1" dirty="0">
                <a:solidFill>
                  <a:schemeClr val="tx1"/>
                </a:solidFill>
                <a:latin typeface="Times New Roman" panose="02020603050405020304" pitchFamily="18" charset="0"/>
                <a:cs typeface="Times New Roman" panose="02020603050405020304" pitchFamily="18" charset="0"/>
              </a:rPr>
              <a:t>R</a:t>
            </a:r>
            <a:r>
              <a:rPr lang="en-IN" sz="3200" b="1" dirty="0">
                <a:solidFill>
                  <a:schemeClr val="tx1"/>
                </a:solidFill>
                <a:latin typeface="Times New Roman" panose="02020603050405020304" pitchFamily="18" charset="0"/>
                <a:cs typeface="Times New Roman" panose="02020603050405020304" pitchFamily="18" charset="0"/>
              </a:rPr>
              <a:t>EVIEW 2</a:t>
            </a:r>
            <a:endParaRPr sz="3200" b="1" dirty="0">
              <a:solidFill>
                <a:schemeClr val="tx1"/>
              </a:solidFill>
              <a:latin typeface="Times New Roman" panose="02020603050405020304" pitchFamily="18" charset="0"/>
              <a:cs typeface="Times New Roman" panose="02020603050405020304" pitchFamily="18" charset="0"/>
            </a:endParaRPr>
          </a:p>
        </p:txBody>
      </p:sp>
      <p:sp>
        <p:nvSpPr>
          <p:cNvPr id="4" name="Google Shape;55;p13"/>
          <p:cNvSpPr txBox="1">
            <a:spLocks/>
          </p:cNvSpPr>
          <p:nvPr/>
        </p:nvSpPr>
        <p:spPr>
          <a:xfrm>
            <a:off x="503955" y="3441395"/>
            <a:ext cx="4260300" cy="792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l"/>
            <a:r>
              <a:rPr lang="en-IN" sz="1400" b="1" dirty="0">
                <a:solidFill>
                  <a:schemeClr val="tx1"/>
                </a:solidFill>
                <a:latin typeface="Times New Roman" panose="02020603050405020304" pitchFamily="18" charset="0"/>
                <a:cs typeface="Times New Roman" panose="02020603050405020304" pitchFamily="18" charset="0"/>
              </a:rPr>
              <a:t>Under the Guidance of</a:t>
            </a:r>
          </a:p>
          <a:p>
            <a:pPr marL="0" indent="0" algn="l"/>
            <a:r>
              <a:rPr lang="en-IN" sz="1400" b="1" dirty="0">
                <a:solidFill>
                  <a:schemeClr val="tx1"/>
                </a:solidFill>
                <a:latin typeface="Times New Roman" panose="02020603050405020304" pitchFamily="18" charset="0"/>
                <a:cs typeface="Times New Roman" panose="02020603050405020304" pitchFamily="18" charset="0"/>
              </a:rPr>
              <a:t>Mr. Ramesh Banoth</a:t>
            </a:r>
          </a:p>
          <a:p>
            <a:pPr marL="0" indent="0" algn="l"/>
            <a:r>
              <a:rPr lang="en-IN" sz="1400" b="1" dirty="0">
                <a:solidFill>
                  <a:schemeClr val="tx1"/>
                </a:solidFill>
                <a:latin typeface="Times New Roman" panose="02020603050405020304" pitchFamily="18" charset="0"/>
                <a:cs typeface="Times New Roman" panose="02020603050405020304" pitchFamily="18" charset="0"/>
              </a:rPr>
              <a:t>Assistant Professor</a:t>
            </a:r>
          </a:p>
        </p:txBody>
      </p:sp>
      <p:sp>
        <p:nvSpPr>
          <p:cNvPr id="5" name="Google Shape;55;p13"/>
          <p:cNvSpPr txBox="1">
            <a:spLocks/>
          </p:cNvSpPr>
          <p:nvPr/>
        </p:nvSpPr>
        <p:spPr>
          <a:xfrm>
            <a:off x="4580469" y="3366267"/>
            <a:ext cx="4260300" cy="184507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l"/>
            <a:r>
              <a:rPr lang="en-IN" sz="1400" b="1" dirty="0">
                <a:solidFill>
                  <a:schemeClr val="tx1"/>
                </a:solidFill>
                <a:latin typeface="Times New Roman" panose="02020603050405020304" pitchFamily="18" charset="0"/>
                <a:cs typeface="Times New Roman" panose="02020603050405020304" pitchFamily="18" charset="0"/>
              </a:rPr>
              <a:t>Presented by:</a:t>
            </a:r>
          </a:p>
          <a:p>
            <a:pPr marL="0" indent="0" algn="l"/>
            <a:r>
              <a:rPr lang="en-IN" sz="1400" b="1" dirty="0">
                <a:solidFill>
                  <a:schemeClr val="tx1"/>
                </a:solidFill>
                <a:latin typeface="Times New Roman" panose="02020603050405020304" pitchFamily="18" charset="0"/>
                <a:cs typeface="Times New Roman" panose="02020603050405020304" pitchFamily="18" charset="0"/>
              </a:rPr>
              <a:t>1. Ms. R </a:t>
            </a:r>
            <a:r>
              <a:rPr lang="en-IN" sz="1400" b="1" dirty="0" err="1">
                <a:solidFill>
                  <a:schemeClr val="tx1"/>
                </a:solidFill>
                <a:latin typeface="Times New Roman" panose="02020603050405020304" pitchFamily="18" charset="0"/>
                <a:cs typeface="Times New Roman" panose="02020603050405020304" pitchFamily="18" charset="0"/>
              </a:rPr>
              <a:t>Sravani</a:t>
            </a:r>
            <a:r>
              <a:rPr lang="en-IN" sz="1400" b="1" dirty="0">
                <a:solidFill>
                  <a:schemeClr val="tx1"/>
                </a:solidFill>
                <a:latin typeface="Times New Roman" panose="02020603050405020304" pitchFamily="18" charset="0"/>
                <a:cs typeface="Times New Roman" panose="02020603050405020304" pitchFamily="18" charset="0"/>
              </a:rPr>
              <a:t> (22241A66B6)</a:t>
            </a:r>
          </a:p>
          <a:p>
            <a:pPr marL="0" indent="0" algn="l"/>
            <a:r>
              <a:rPr lang="en-IN" sz="1400" b="1" dirty="0">
                <a:solidFill>
                  <a:schemeClr val="tx1"/>
                </a:solidFill>
                <a:latin typeface="Times New Roman" panose="02020603050405020304" pitchFamily="18" charset="0"/>
                <a:cs typeface="Times New Roman" panose="02020603050405020304" pitchFamily="18" charset="0"/>
              </a:rPr>
              <a:t>2. Ms. K </a:t>
            </a:r>
            <a:r>
              <a:rPr lang="en-IN" sz="1400" b="1" dirty="0" err="1">
                <a:solidFill>
                  <a:schemeClr val="tx1"/>
                </a:solidFill>
                <a:latin typeface="Times New Roman" panose="02020603050405020304" pitchFamily="18" charset="0"/>
                <a:cs typeface="Times New Roman" panose="02020603050405020304" pitchFamily="18" charset="0"/>
              </a:rPr>
              <a:t>Sravani</a:t>
            </a:r>
            <a:r>
              <a:rPr lang="en-IN" sz="1400" b="1" dirty="0">
                <a:solidFill>
                  <a:schemeClr val="tx1"/>
                </a:solidFill>
                <a:latin typeface="Times New Roman" panose="02020603050405020304" pitchFamily="18" charset="0"/>
                <a:cs typeface="Times New Roman" panose="02020603050405020304" pitchFamily="18" charset="0"/>
              </a:rPr>
              <a:t> (22241A6692)</a:t>
            </a:r>
          </a:p>
          <a:p>
            <a:pPr marL="0" indent="0" algn="l"/>
            <a:r>
              <a:rPr lang="en-IN" sz="1400" b="1" dirty="0">
                <a:solidFill>
                  <a:schemeClr val="tx1"/>
                </a:solidFill>
                <a:latin typeface="Times New Roman" panose="02020603050405020304" pitchFamily="18" charset="0"/>
                <a:cs typeface="Times New Roman" panose="02020603050405020304" pitchFamily="18" charset="0"/>
              </a:rPr>
              <a:t>3. Ms. Kareena Shaik (22241A66C0)</a:t>
            </a:r>
          </a:p>
          <a:p>
            <a:pPr marL="0" indent="0" algn="l"/>
            <a:endParaRPr lang="en-IN" sz="1600" b="1" dirty="0">
              <a:solidFill>
                <a:schemeClr val="tx1"/>
              </a:solidFill>
              <a:latin typeface="Times New Roman" panose="02020603050405020304" pitchFamily="18" charset="0"/>
              <a:cs typeface="Times New Roman" panose="02020603050405020304" pitchFamily="18" charset="0"/>
            </a:endParaRPr>
          </a:p>
        </p:txBody>
      </p:sp>
      <p:pic>
        <p:nvPicPr>
          <p:cNvPr id="6" name="Picture 5" descr="Untitled-1 copy">
            <a:extLst>
              <a:ext uri="{FF2B5EF4-FFF2-40B4-BE49-F238E27FC236}">
                <a16:creationId xmlns:a16="http://schemas.microsoft.com/office/drawing/2014/main" id="{42997B5D-A6E2-48F6-8C3E-84C197A070B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5562" t="23018" r="26994" b="21857"/>
          <a:stretch>
            <a:fillRect/>
          </a:stretch>
        </p:blipFill>
        <p:spPr>
          <a:xfrm>
            <a:off x="4064000" y="1646600"/>
            <a:ext cx="877847" cy="803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9E01E-ADD9-BADC-73FE-AEF8CB624C78}"/>
              </a:ext>
            </a:extLst>
          </p:cNvPr>
          <p:cNvSpPr>
            <a:spLocks noGrp="1"/>
          </p:cNvSpPr>
          <p:nvPr>
            <p:ph type="title"/>
          </p:nvPr>
        </p:nvSpPr>
        <p:spPr>
          <a:xfrm>
            <a:off x="452949" y="2150850"/>
            <a:ext cx="8520600" cy="841800"/>
          </a:xfrm>
        </p:spPr>
        <p:txBody>
          <a:bodyPr>
            <a:normAutofit fontScale="90000"/>
          </a:bodyPr>
          <a:lstStyle/>
          <a:p>
            <a:r>
              <a:rPr lang="en-US" b="1" dirty="0"/>
              <a:t> VISIONCARE</a:t>
            </a:r>
            <a:br>
              <a:rPr lang="en-US" b="1" dirty="0"/>
            </a:br>
            <a:r>
              <a:rPr lang="en-US" sz="2800" b="1" dirty="0">
                <a:latin typeface="Times New Roman" panose="02020603050405020304" pitchFamily="18" charset="0"/>
                <a:cs typeface="Times New Roman" panose="02020603050405020304" pitchFamily="18" charset="0"/>
              </a:rPr>
              <a:t>Vision-Based Real-Time Patient Monitoring System</a:t>
            </a:r>
            <a:endParaRPr lang="en-IN" sz="3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755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A8ADA-0DD9-DA89-2D6C-65AF901E0456}"/>
              </a:ext>
            </a:extLst>
          </p:cNvPr>
          <p:cNvSpPr>
            <a:spLocks noGrp="1"/>
          </p:cNvSpPr>
          <p:nvPr>
            <p:ph type="title"/>
          </p:nvPr>
        </p:nvSpPr>
        <p:spPr>
          <a:xfrm>
            <a:off x="311700" y="0"/>
            <a:ext cx="8520600" cy="841800"/>
          </a:xfrm>
        </p:spPr>
        <p:txBody>
          <a:bodyPr>
            <a:normAutofit/>
          </a:bodyPr>
          <a:lstStyle/>
          <a:p>
            <a:r>
              <a:rPr lang="en-US" sz="3200" b="1"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19600A9C-690D-2844-62D5-B162D8FD0205}"/>
              </a:ext>
            </a:extLst>
          </p:cNvPr>
          <p:cNvSpPr txBox="1"/>
          <p:nvPr/>
        </p:nvSpPr>
        <p:spPr>
          <a:xfrm>
            <a:off x="475785" y="566079"/>
            <a:ext cx="8192430" cy="4808817"/>
          </a:xfrm>
          <a:prstGeom prst="rect">
            <a:avLst/>
          </a:prstGeom>
          <a:noFill/>
        </p:spPr>
        <p:txBody>
          <a:bodyPr wrap="square"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Hospitals, especially government and high-patient-load facilities, face serious challenges in continuously monitoring patients due to limited medical staff and resources. Traditional patient monitoring systems rely on </a:t>
            </a:r>
            <a:r>
              <a:rPr lang="en-US" sz="1600" b="1" dirty="0">
                <a:latin typeface="Times New Roman" panose="02020603050405020304" pitchFamily="18" charset="0"/>
                <a:cs typeface="Times New Roman" panose="02020603050405020304" pitchFamily="18" charset="0"/>
              </a:rPr>
              <a:t>wearable sensors and manual observation</a:t>
            </a:r>
            <a:r>
              <a:rPr lang="en-US" sz="1600" dirty="0">
                <a:latin typeface="Times New Roman" panose="02020603050405020304" pitchFamily="18" charset="0"/>
                <a:cs typeface="Times New Roman" panose="02020603050405020304" pitchFamily="18" charset="0"/>
              </a:rPr>
              <a:t>, which can be uncomfortable for patients, costly to maintain, and difficult to scale.</a:t>
            </a:r>
          </a:p>
          <a:p>
            <a:pPr algn="just">
              <a:lnSpc>
                <a:spcPct val="150000"/>
              </a:lnSpc>
            </a:pPr>
            <a:r>
              <a:rPr lang="en-US" sz="1600" dirty="0">
                <a:latin typeface="Times New Roman" panose="02020603050405020304" pitchFamily="18" charset="0"/>
                <a:cs typeface="Times New Roman" panose="02020603050405020304" pitchFamily="18" charset="0"/>
              </a:rPr>
              <a:t>With the advancement of </a:t>
            </a:r>
            <a:r>
              <a:rPr lang="en-US" sz="1600" b="1" dirty="0">
                <a:latin typeface="Times New Roman" panose="02020603050405020304" pitchFamily="18" charset="0"/>
                <a:cs typeface="Times New Roman" panose="02020603050405020304" pitchFamily="18" charset="0"/>
              </a:rPr>
              <a:t>computer vision and artificial intelligence</a:t>
            </a:r>
            <a:r>
              <a:rPr lang="en-US" sz="1600" dirty="0">
                <a:latin typeface="Times New Roman" panose="02020603050405020304" pitchFamily="18" charset="0"/>
                <a:cs typeface="Times New Roman" panose="02020603050405020304" pitchFamily="18" charset="0"/>
              </a:rPr>
              <a:t>, it is now possible to monitor patients using </a:t>
            </a:r>
            <a:r>
              <a:rPr lang="en-US" sz="1600" b="1" dirty="0">
                <a:latin typeface="Times New Roman" panose="02020603050405020304" pitchFamily="18" charset="0"/>
                <a:cs typeface="Times New Roman" panose="02020603050405020304" pitchFamily="18" charset="0"/>
              </a:rPr>
              <a:t>camera-based systems</a:t>
            </a:r>
            <a:r>
              <a:rPr lang="en-US" sz="1600" dirty="0">
                <a:latin typeface="Times New Roman" panose="02020603050405020304" pitchFamily="18" charset="0"/>
                <a:cs typeface="Times New Roman" panose="02020603050405020304" pitchFamily="18" charset="0"/>
              </a:rPr>
              <a:t> without direct physical contact. A Vision-Based Real-Time Patient Monitoring System uses </a:t>
            </a:r>
            <a:r>
              <a:rPr lang="en-US" sz="1600" b="1" dirty="0">
                <a:latin typeface="Times New Roman" panose="02020603050405020304" pitchFamily="18" charset="0"/>
                <a:cs typeface="Times New Roman" panose="02020603050405020304" pitchFamily="18" charset="0"/>
              </a:rPr>
              <a:t>live video feeds</a:t>
            </a:r>
            <a:r>
              <a:rPr lang="en-US" sz="1600" dirty="0">
                <a:latin typeface="Times New Roman" panose="02020603050405020304" pitchFamily="18" charset="0"/>
                <a:cs typeface="Times New Roman" panose="02020603050405020304" pitchFamily="18" charset="0"/>
              </a:rPr>
              <a:t> to observe patient activities such as movement, posture, and abnormal behaviors (falls, prolonged inactivity, distress gestures).</a:t>
            </a:r>
          </a:p>
          <a:p>
            <a:pPr algn="just">
              <a:lnSpc>
                <a:spcPct val="150000"/>
              </a:lnSpc>
            </a:pPr>
            <a:r>
              <a:rPr lang="en-US" sz="1600" dirty="0">
                <a:latin typeface="Times New Roman" panose="02020603050405020304" pitchFamily="18" charset="0"/>
                <a:cs typeface="Times New Roman" panose="02020603050405020304" pitchFamily="18" charset="0"/>
              </a:rPr>
              <a:t>This project proposes an </a:t>
            </a:r>
            <a:r>
              <a:rPr lang="en-US" sz="1600" b="1" dirty="0">
                <a:latin typeface="Times New Roman" panose="02020603050405020304" pitchFamily="18" charset="0"/>
                <a:cs typeface="Times New Roman" panose="02020603050405020304" pitchFamily="18" charset="0"/>
              </a:rPr>
              <a:t>AI-powered, non-intrusive patient monitoring solution</a:t>
            </a:r>
            <a:r>
              <a:rPr lang="en-US" sz="1600" dirty="0">
                <a:latin typeface="Times New Roman" panose="02020603050405020304" pitchFamily="18" charset="0"/>
                <a:cs typeface="Times New Roman" panose="02020603050405020304" pitchFamily="18" charset="0"/>
              </a:rPr>
              <a:t> that automatically detects critical events in real time and alerts healthcare staff, thereby improving patient safety, reducing workload on medical professionals, and enabling faster emergency response.</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3661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9751E-6824-853E-8489-F45564593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163AF8-0582-328F-5248-DC14C7BB4391}"/>
              </a:ext>
            </a:extLst>
          </p:cNvPr>
          <p:cNvSpPr>
            <a:spLocks noGrp="1"/>
          </p:cNvSpPr>
          <p:nvPr>
            <p:ph type="title"/>
          </p:nvPr>
        </p:nvSpPr>
        <p:spPr>
          <a:xfrm>
            <a:off x="311700" y="0"/>
            <a:ext cx="8520600" cy="841800"/>
          </a:xfrm>
        </p:spPr>
        <p:txBody>
          <a:bodyPr>
            <a:normAutofit/>
          </a:bodyPr>
          <a:lstStyle/>
          <a:p>
            <a:r>
              <a:rPr lang="en-US" sz="3200" b="1" dirty="0">
                <a:latin typeface="Times New Roman" panose="02020603050405020304" pitchFamily="18" charset="0"/>
                <a:cs typeface="Times New Roman" panose="02020603050405020304" pitchFamily="18" charset="0"/>
              </a:rPr>
              <a:t>Problem Statement</a:t>
            </a:r>
          </a:p>
        </p:txBody>
      </p:sp>
      <p:sp>
        <p:nvSpPr>
          <p:cNvPr id="3" name="TextBox 2">
            <a:extLst>
              <a:ext uri="{FF2B5EF4-FFF2-40B4-BE49-F238E27FC236}">
                <a16:creationId xmlns:a16="http://schemas.microsoft.com/office/drawing/2014/main" id="{0E6C037B-91BA-9615-7754-E0DC5C1D6E7B}"/>
              </a:ext>
            </a:extLst>
          </p:cNvPr>
          <p:cNvSpPr txBox="1"/>
          <p:nvPr/>
        </p:nvSpPr>
        <p:spPr>
          <a:xfrm>
            <a:off x="594732" y="799577"/>
            <a:ext cx="8051180" cy="3002745"/>
          </a:xfrm>
          <a:prstGeom prst="rect">
            <a:avLst/>
          </a:prstGeom>
          <a:noFill/>
        </p:spPr>
        <p:txBody>
          <a:bodyPr wrap="square"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Hospitals and healthcare facilities often face difficulties in continuously monitoring patients due to limited medical staff, high patient-to-nurse ratios, and reliance on manual observation methods. Critical incidents such as patient falls, prolonged inactivity, or sudden abnormal movements may go unnoticed, leading to delayed medical intervention and increased health risks. Existing monitoring approaches either depend on wearable sensors, which can be uncomfortable and unreliable, or require constant human supervision, which is inefficient and prone to error. This creates a significant challenge in ensuring timely detection of patient emergencies and maintaining patient safety in real-time healthcare environments.</a:t>
            </a:r>
          </a:p>
        </p:txBody>
      </p:sp>
    </p:spTree>
    <p:extLst>
      <p:ext uri="{BB962C8B-B14F-4D97-AF65-F5344CB8AC3E}">
        <p14:creationId xmlns:p14="http://schemas.microsoft.com/office/powerpoint/2010/main" val="1019375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Abstract </a:t>
            </a:r>
          </a:p>
        </p:txBody>
      </p:sp>
      <p:sp>
        <p:nvSpPr>
          <p:cNvPr id="2" name="TextBox 1">
            <a:extLst>
              <a:ext uri="{FF2B5EF4-FFF2-40B4-BE49-F238E27FC236}">
                <a16:creationId xmlns:a16="http://schemas.microsoft.com/office/drawing/2014/main" id="{177F71F3-C99D-1CF2-A3FE-A8946107AB23}"/>
              </a:ext>
            </a:extLst>
          </p:cNvPr>
          <p:cNvSpPr txBox="1"/>
          <p:nvPr/>
        </p:nvSpPr>
        <p:spPr>
          <a:xfrm>
            <a:off x="520390" y="496537"/>
            <a:ext cx="8103220" cy="4480073"/>
          </a:xfrm>
          <a:prstGeom prst="rect">
            <a:avLst/>
          </a:prstGeom>
          <a:noFill/>
        </p:spPr>
        <p:txBody>
          <a:bodyPr wrap="square" rtlCol="0">
            <a:spAutoFit/>
          </a:bodyPr>
          <a:lstStyle/>
          <a:p>
            <a:pPr algn="just">
              <a:lnSpc>
                <a:spcPct val="150000"/>
              </a:lnSpc>
            </a:pPr>
            <a:r>
              <a:rPr lang="en-US" sz="1600" dirty="0" err="1">
                <a:latin typeface="Times New Roman" panose="02020603050405020304" pitchFamily="18" charset="0"/>
                <a:cs typeface="Times New Roman" panose="02020603050405020304" pitchFamily="18" charset="0"/>
              </a:rPr>
              <a:t>VisionCare</a:t>
            </a:r>
            <a:r>
              <a:rPr lang="en-US" sz="1600" dirty="0">
                <a:latin typeface="Times New Roman" panose="02020603050405020304" pitchFamily="18" charset="0"/>
                <a:cs typeface="Times New Roman" panose="02020603050405020304" pitchFamily="18" charset="0"/>
              </a:rPr>
              <a:t> is a vision-based real-time patient monitoring system developed to continuously observe patients and improve safety in hospital environments. In many hospitals, especially those with high patient loads, it is difficult for medical staff to monitor every patient at all times. Traditional methods rely on manual supervision or wearable sensors, which may be uncomfortable for patients and difficult to manage. In this project, the monitoring process is carried out using cameras placed in patient wards to capture live video streams. These video feeds are analyzed using computer vision and deep learning techniques to track patient movements and activities. The system is designed to identify abnormal situations such as patient falls or long periods of inactivity that may indicate a medical emergency. When such an event is detected, an alert is immediately generated to inform healthcare staff, enabling quick medical response. This approach reduces dependence on constant human supervision, avoids the use of physical sensors, and helps ensure timely assistance and improved patient care.</a:t>
            </a:r>
          </a:p>
        </p:txBody>
      </p:sp>
    </p:spTree>
    <p:extLst>
      <p:ext uri="{BB962C8B-B14F-4D97-AF65-F5344CB8AC3E}">
        <p14:creationId xmlns:p14="http://schemas.microsoft.com/office/powerpoint/2010/main" val="1915797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47EE6-F709-CCDA-E09F-7D570BE54F6C}"/>
              </a:ext>
            </a:extLst>
          </p:cNvPr>
          <p:cNvSpPr>
            <a:spLocks noGrp="1"/>
          </p:cNvSpPr>
          <p:nvPr>
            <p:ph type="title"/>
          </p:nvPr>
        </p:nvSpPr>
        <p:spPr>
          <a:xfrm>
            <a:off x="760720" y="0"/>
            <a:ext cx="7886700" cy="994172"/>
          </a:xfrm>
        </p:spPr>
        <p:txBody>
          <a:bodyPr>
            <a:normAutofit/>
          </a:bodyPr>
          <a:lstStyle/>
          <a:p>
            <a:pPr algn="ctr"/>
            <a:r>
              <a:rPr lang="en-US" sz="3000" b="1" dirty="0">
                <a:latin typeface="Times New Roman"/>
                <a:ea typeface="Calibri Light"/>
                <a:cs typeface="Calibri Light"/>
              </a:rPr>
              <a:t>Objectives of the Project</a:t>
            </a:r>
            <a:endParaRPr lang="en-US" sz="3000" b="1" dirty="0">
              <a:latin typeface="Times New Roman"/>
            </a:endParaRPr>
          </a:p>
        </p:txBody>
      </p:sp>
      <p:sp>
        <p:nvSpPr>
          <p:cNvPr id="4" name="Rectangle 1">
            <a:extLst>
              <a:ext uri="{FF2B5EF4-FFF2-40B4-BE49-F238E27FC236}">
                <a16:creationId xmlns:a16="http://schemas.microsoft.com/office/drawing/2014/main" id="{16EF3022-03FF-6FB6-859B-02C352723AD9}"/>
              </a:ext>
            </a:extLst>
          </p:cNvPr>
          <p:cNvSpPr>
            <a:spLocks noChangeArrowheads="1"/>
          </p:cNvSpPr>
          <p:nvPr/>
        </p:nvSpPr>
        <p:spPr bwMode="auto">
          <a:xfrm>
            <a:off x="344180" y="885711"/>
            <a:ext cx="8303240" cy="3372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vision-based system for continuous real-time monitoring of patients in hospital environments.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detect abnormal patient activities such as falls and prolonged inactivity using computer vision techniques.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dependence on manual supervision and wearable sensor-based monitoring systems.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generate real-time alerts for healthcare staff when critical events are detected.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response time during patient emergencies and enhance overall patient safety.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 cost-effective and scalable monitoring solution suitable for hospitals with high patient loads.</a:t>
            </a:r>
          </a:p>
        </p:txBody>
      </p:sp>
    </p:spTree>
    <p:extLst>
      <p:ext uri="{BB962C8B-B14F-4D97-AF65-F5344CB8AC3E}">
        <p14:creationId xmlns:p14="http://schemas.microsoft.com/office/powerpoint/2010/main" val="2328569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9A74D-641F-4AB0-B7E4-D6B061749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ECE0BB-D0B8-C7D0-82D7-3E680525DEA2}"/>
              </a:ext>
            </a:extLst>
          </p:cNvPr>
          <p:cNvSpPr>
            <a:spLocks noGrp="1"/>
          </p:cNvSpPr>
          <p:nvPr>
            <p:ph type="title"/>
          </p:nvPr>
        </p:nvSpPr>
        <p:spPr>
          <a:xfrm>
            <a:off x="1115696" y="-13077"/>
            <a:ext cx="7886700" cy="994172"/>
          </a:xfrm>
        </p:spPr>
        <p:txBody>
          <a:bodyPr>
            <a:normAutofit/>
          </a:bodyPr>
          <a:lstStyle/>
          <a:p>
            <a:r>
              <a:rPr lang="en-US" sz="3600" b="1" dirty="0">
                <a:latin typeface="Times New Roman" panose="02020603050405020304" pitchFamily="18" charset="0"/>
                <a:cs typeface="Times New Roman" panose="02020603050405020304" pitchFamily="18" charset="0"/>
              </a:rPr>
              <a:t>Methodology &amp; Implementation</a:t>
            </a:r>
            <a:endParaRPr lang="en-IN" sz="3600" b="1"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6F981E68-FB27-016A-A76C-D652B8E99694}"/>
              </a:ext>
            </a:extLst>
          </p:cNvPr>
          <p:cNvSpPr>
            <a:spLocks noGrp="1"/>
          </p:cNvSpPr>
          <p:nvPr>
            <p:ph idx="1"/>
          </p:nvPr>
        </p:nvSpPr>
        <p:spPr>
          <a:xfrm>
            <a:off x="10118090" y="994172"/>
            <a:ext cx="2195830" cy="2631203"/>
          </a:xfrm>
        </p:spPr>
        <p:txBody>
          <a:bodyPr/>
          <a:lstStyle/>
          <a:p>
            <a:endParaRPr lang="en-IN" dirty="0"/>
          </a:p>
        </p:txBody>
      </p:sp>
      <p:sp>
        <p:nvSpPr>
          <p:cNvPr id="3" name="Rectangle 1">
            <a:extLst>
              <a:ext uri="{FF2B5EF4-FFF2-40B4-BE49-F238E27FC236}">
                <a16:creationId xmlns:a16="http://schemas.microsoft.com/office/drawing/2014/main" id="{B98C99B1-354C-3583-18AC-1081A3679F46}"/>
              </a:ext>
            </a:extLst>
          </p:cNvPr>
          <p:cNvSpPr>
            <a:spLocks noChangeArrowheads="1"/>
          </p:cNvSpPr>
          <p:nvPr/>
        </p:nvSpPr>
        <p:spPr bwMode="auto">
          <a:xfrm>
            <a:off x="487680" y="994172"/>
            <a:ext cx="8023859"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methodology of the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VisionCare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system is based on real-time video-based patient monitoring using deep learning and computer vision techniques. Initially, live video streams from hospital cameras are captured and preprocessed through frame extraction, noise reduction, and image normalization to improve data quality. The processed frames are then passed to the computer vision core, where patient detection, movement tracking, and pose estimation are performed to extract meaningful spatial and motion features. These features are analyzed using CNN models for spatial behavior understanding and LSTM networks for temporal sequence learning to identify normal and abnormal patient activities such as falls or unusual movements. The detected events are further validated using threshold-based and temporal verification techniques to minimize false positives. In implementation, the system can be developed using Python with frameworks such as OpenCV for image processing and TensorFlow or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deep learning, integrated with a real-time alert system and database for notification and event logging within the hospital environment.</a:t>
            </a:r>
          </a:p>
        </p:txBody>
      </p:sp>
    </p:spTree>
    <p:extLst>
      <p:ext uri="{BB962C8B-B14F-4D97-AF65-F5344CB8AC3E}">
        <p14:creationId xmlns:p14="http://schemas.microsoft.com/office/powerpoint/2010/main" val="3567940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7D259-C09C-20B6-7E20-F7EE126AF51F}"/>
              </a:ext>
            </a:extLst>
          </p:cNvPr>
          <p:cNvSpPr>
            <a:spLocks noGrp="1"/>
          </p:cNvSpPr>
          <p:nvPr>
            <p:ph type="title"/>
          </p:nvPr>
        </p:nvSpPr>
        <p:spPr>
          <a:xfrm>
            <a:off x="1584960" y="-81280"/>
            <a:ext cx="7886700" cy="994172"/>
          </a:xfrm>
        </p:spPr>
        <p:txBody>
          <a:bodyPr>
            <a:normAutofit/>
          </a:bodyPr>
          <a:lstStyle/>
          <a:p>
            <a:r>
              <a:rPr lang="en-IN" sz="3600" b="1" dirty="0">
                <a:latin typeface="Times New Roman" panose="02020603050405020304" pitchFamily="18" charset="0"/>
                <a:cs typeface="Times New Roman" panose="02020603050405020304" pitchFamily="18" charset="0"/>
              </a:rPr>
              <a:t>System Architecture Diagram</a:t>
            </a:r>
          </a:p>
        </p:txBody>
      </p:sp>
      <p:sp>
        <p:nvSpPr>
          <p:cNvPr id="9" name="Content Placeholder 8">
            <a:extLst>
              <a:ext uri="{FF2B5EF4-FFF2-40B4-BE49-F238E27FC236}">
                <a16:creationId xmlns:a16="http://schemas.microsoft.com/office/drawing/2014/main" id="{D90C54FE-5264-C814-317E-6626730A2108}"/>
              </a:ext>
            </a:extLst>
          </p:cNvPr>
          <p:cNvSpPr>
            <a:spLocks noGrp="1"/>
          </p:cNvSpPr>
          <p:nvPr>
            <p:ph idx="1"/>
          </p:nvPr>
        </p:nvSpPr>
        <p:spPr>
          <a:xfrm>
            <a:off x="10118090" y="994172"/>
            <a:ext cx="2195830" cy="2631203"/>
          </a:xfrm>
        </p:spPr>
        <p:txBody>
          <a:bodyPr/>
          <a:lstStyle/>
          <a:p>
            <a:endParaRPr lang="en-IN" dirty="0"/>
          </a:p>
        </p:txBody>
      </p:sp>
      <p:pic>
        <p:nvPicPr>
          <p:cNvPr id="4" name="Picture 3">
            <a:extLst>
              <a:ext uri="{FF2B5EF4-FFF2-40B4-BE49-F238E27FC236}">
                <a16:creationId xmlns:a16="http://schemas.microsoft.com/office/drawing/2014/main" id="{4B4D113E-B7FC-94EF-AF67-F82BB4C6CC54}"/>
              </a:ext>
            </a:extLst>
          </p:cNvPr>
          <p:cNvPicPr>
            <a:picLocks noChangeAspect="1"/>
          </p:cNvPicPr>
          <p:nvPr/>
        </p:nvPicPr>
        <p:blipFill>
          <a:blip r:embed="rId2"/>
          <a:stretch>
            <a:fillRect/>
          </a:stretch>
        </p:blipFill>
        <p:spPr>
          <a:xfrm>
            <a:off x="767715" y="777240"/>
            <a:ext cx="7715250" cy="4152900"/>
          </a:xfrm>
          <a:prstGeom prst="rect">
            <a:avLst/>
          </a:prstGeom>
        </p:spPr>
      </p:pic>
    </p:spTree>
    <p:extLst>
      <p:ext uri="{BB962C8B-B14F-4D97-AF65-F5344CB8AC3E}">
        <p14:creationId xmlns:p14="http://schemas.microsoft.com/office/powerpoint/2010/main" val="2179478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55F5C-B5CA-252B-92BD-0D14744635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5F25C-9CAE-FC21-4D38-4A95BF5E195B}"/>
              </a:ext>
            </a:extLst>
          </p:cNvPr>
          <p:cNvSpPr>
            <a:spLocks noGrp="1"/>
          </p:cNvSpPr>
          <p:nvPr>
            <p:ph type="title"/>
          </p:nvPr>
        </p:nvSpPr>
        <p:spPr>
          <a:xfrm>
            <a:off x="2811780" y="-96520"/>
            <a:ext cx="7886700" cy="994172"/>
          </a:xfrm>
        </p:spPr>
        <p:txBody>
          <a:bodyPr>
            <a:normAutofit/>
          </a:bodyPr>
          <a:lstStyle/>
          <a:p>
            <a:r>
              <a:rPr lang="en-US" sz="3600" b="1" dirty="0">
                <a:latin typeface="Times New Roman" panose="02020603050405020304" pitchFamily="18" charset="0"/>
                <a:cs typeface="Times New Roman" panose="02020603050405020304" pitchFamily="18" charset="0"/>
              </a:rPr>
              <a:t>D</a:t>
            </a:r>
            <a:r>
              <a:rPr lang="en-IN" sz="3600" b="1" dirty="0" err="1">
                <a:latin typeface="Times New Roman" panose="02020603050405020304" pitchFamily="18" charset="0"/>
                <a:cs typeface="Times New Roman" panose="02020603050405020304" pitchFamily="18" charset="0"/>
              </a:rPr>
              <a:t>escription</a:t>
            </a:r>
            <a:endParaRPr lang="en-IN" sz="3600" b="1"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551700BB-7F2C-4EE4-6BB2-CDF6CA695455}"/>
              </a:ext>
            </a:extLst>
          </p:cNvPr>
          <p:cNvSpPr>
            <a:spLocks noGrp="1"/>
          </p:cNvSpPr>
          <p:nvPr>
            <p:ph idx="1"/>
          </p:nvPr>
        </p:nvSpPr>
        <p:spPr>
          <a:xfrm>
            <a:off x="10118090" y="994172"/>
            <a:ext cx="2195830" cy="2631203"/>
          </a:xfrm>
        </p:spPr>
        <p:txBody>
          <a:bodyPr/>
          <a:lstStyle/>
          <a:p>
            <a:endParaRPr lang="en-IN" dirty="0"/>
          </a:p>
        </p:txBody>
      </p:sp>
      <p:sp>
        <p:nvSpPr>
          <p:cNvPr id="6" name="TextBox 5">
            <a:extLst>
              <a:ext uri="{FF2B5EF4-FFF2-40B4-BE49-F238E27FC236}">
                <a16:creationId xmlns:a16="http://schemas.microsoft.com/office/drawing/2014/main" id="{192D3925-ACDD-2491-B5D0-E227836E3393}"/>
              </a:ext>
            </a:extLst>
          </p:cNvPr>
          <p:cNvSpPr txBox="1"/>
          <p:nvPr/>
        </p:nvSpPr>
        <p:spPr>
          <a:xfrm>
            <a:off x="830580" y="994172"/>
            <a:ext cx="7185660" cy="2677656"/>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VisionCare</a:t>
            </a:r>
            <a:r>
              <a:rPr lang="en-US" dirty="0">
                <a:latin typeface="Times New Roman" panose="02020603050405020304" pitchFamily="18" charset="0"/>
                <a:cs typeface="Times New Roman" panose="02020603050405020304" pitchFamily="18" charset="0"/>
              </a:rPr>
              <a:t> system architecture is designed to provide real-time patient monitoring using intelligent vision-based technology. The system collects continuous video input from CCTV or IP cameras installed in hospital wards and may also utilize relevant patient records for contextual support. The captured video undergoes preprocessing steps such as frame extraction, noise reduction, and normalization to prepare it for analysis. The processed data is then analyzed using deep learning techniques, where CNN models extract spatial features and LSTM models analyze temporal behavior patterns. The central AI engine identifies abnormal activities such as falls or prolonged inactivity. A decision engine further validates detected events using confidence scores and threshold checks to reduce false alarms. Once verified, alerts are immediately sent to medical staff, and the incident details are securely stored in the event database for monitoring and reporting purposes.</a:t>
            </a:r>
          </a:p>
          <a:p>
            <a:endParaRPr lang="en-IN" dirty="0"/>
          </a:p>
        </p:txBody>
      </p:sp>
    </p:spTree>
    <p:extLst>
      <p:ext uri="{BB962C8B-B14F-4D97-AF65-F5344CB8AC3E}">
        <p14:creationId xmlns:p14="http://schemas.microsoft.com/office/powerpoint/2010/main" val="3165570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1CC0-89CC-1C7A-8760-264D0B553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DE5C3-AD0B-9322-1A49-403D0040A0C4}"/>
              </a:ext>
            </a:extLst>
          </p:cNvPr>
          <p:cNvSpPr>
            <a:spLocks noGrp="1"/>
          </p:cNvSpPr>
          <p:nvPr>
            <p:ph type="title"/>
          </p:nvPr>
        </p:nvSpPr>
        <p:spPr>
          <a:xfrm>
            <a:off x="1584960" y="-81280"/>
            <a:ext cx="7886700" cy="994172"/>
          </a:xfrm>
        </p:spPr>
        <p:txBody>
          <a:bodyPr>
            <a:normAutofit/>
          </a:bodyPr>
          <a:lstStyle/>
          <a:p>
            <a:r>
              <a:rPr lang="en-IN" sz="3600" b="1" dirty="0">
                <a:latin typeface="Times New Roman" panose="02020603050405020304" pitchFamily="18" charset="0"/>
                <a:cs typeface="Times New Roman" panose="02020603050405020304" pitchFamily="18" charset="0"/>
              </a:rPr>
              <a:t>Module Connectivity Diagram</a:t>
            </a:r>
          </a:p>
        </p:txBody>
      </p:sp>
      <p:sp>
        <p:nvSpPr>
          <p:cNvPr id="9" name="Content Placeholder 8">
            <a:extLst>
              <a:ext uri="{FF2B5EF4-FFF2-40B4-BE49-F238E27FC236}">
                <a16:creationId xmlns:a16="http://schemas.microsoft.com/office/drawing/2014/main" id="{E969935B-77E6-DC3A-C03F-3D02DF2F2B8D}"/>
              </a:ext>
            </a:extLst>
          </p:cNvPr>
          <p:cNvSpPr>
            <a:spLocks noGrp="1"/>
          </p:cNvSpPr>
          <p:nvPr>
            <p:ph idx="1"/>
          </p:nvPr>
        </p:nvSpPr>
        <p:spPr>
          <a:xfrm>
            <a:off x="10118090" y="994172"/>
            <a:ext cx="2195830" cy="2631203"/>
          </a:xfrm>
        </p:spPr>
        <p:txBody>
          <a:bodyPr/>
          <a:lstStyle/>
          <a:p>
            <a:endParaRPr lang="en-IN" dirty="0"/>
          </a:p>
        </p:txBody>
      </p:sp>
      <p:pic>
        <p:nvPicPr>
          <p:cNvPr id="5" name="Picture 4">
            <a:extLst>
              <a:ext uri="{FF2B5EF4-FFF2-40B4-BE49-F238E27FC236}">
                <a16:creationId xmlns:a16="http://schemas.microsoft.com/office/drawing/2014/main" id="{91C5AB4D-423F-95FE-C014-EF52FDFAC5F6}"/>
              </a:ext>
            </a:extLst>
          </p:cNvPr>
          <p:cNvPicPr>
            <a:picLocks noChangeAspect="1"/>
          </p:cNvPicPr>
          <p:nvPr/>
        </p:nvPicPr>
        <p:blipFill>
          <a:blip r:embed="rId2"/>
          <a:stretch>
            <a:fillRect/>
          </a:stretch>
        </p:blipFill>
        <p:spPr>
          <a:xfrm>
            <a:off x="592455" y="853440"/>
            <a:ext cx="7715250" cy="3810000"/>
          </a:xfrm>
          <a:prstGeom prst="rect">
            <a:avLst/>
          </a:prstGeom>
        </p:spPr>
      </p:pic>
    </p:spTree>
    <p:extLst>
      <p:ext uri="{BB962C8B-B14F-4D97-AF65-F5344CB8AC3E}">
        <p14:creationId xmlns:p14="http://schemas.microsoft.com/office/powerpoint/2010/main" val="1010320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DC77B-BE8C-AAD7-E287-9DA6BDD93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A2392-3E6D-6432-9CC2-D6B21F0E1240}"/>
              </a:ext>
            </a:extLst>
          </p:cNvPr>
          <p:cNvSpPr>
            <a:spLocks noGrp="1"/>
          </p:cNvSpPr>
          <p:nvPr>
            <p:ph type="title"/>
          </p:nvPr>
        </p:nvSpPr>
        <p:spPr>
          <a:xfrm>
            <a:off x="2811780" y="-96520"/>
            <a:ext cx="7886700" cy="994172"/>
          </a:xfrm>
        </p:spPr>
        <p:txBody>
          <a:bodyPr>
            <a:normAutofit/>
          </a:bodyPr>
          <a:lstStyle/>
          <a:p>
            <a:r>
              <a:rPr lang="en-US" sz="3600" b="1" dirty="0">
                <a:latin typeface="Times New Roman" panose="02020603050405020304" pitchFamily="18" charset="0"/>
                <a:cs typeface="Times New Roman" panose="02020603050405020304" pitchFamily="18" charset="0"/>
              </a:rPr>
              <a:t>D</a:t>
            </a:r>
            <a:r>
              <a:rPr lang="en-IN" sz="3600" b="1" dirty="0" err="1">
                <a:latin typeface="Times New Roman" panose="02020603050405020304" pitchFamily="18" charset="0"/>
                <a:cs typeface="Times New Roman" panose="02020603050405020304" pitchFamily="18" charset="0"/>
              </a:rPr>
              <a:t>escription</a:t>
            </a:r>
            <a:endParaRPr lang="en-IN" sz="3600" b="1"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6BCCCF80-1249-6708-D868-CAAA842B3945}"/>
              </a:ext>
            </a:extLst>
          </p:cNvPr>
          <p:cNvSpPr>
            <a:spLocks noGrp="1"/>
          </p:cNvSpPr>
          <p:nvPr>
            <p:ph idx="1"/>
          </p:nvPr>
        </p:nvSpPr>
        <p:spPr>
          <a:xfrm>
            <a:off x="10118090" y="994172"/>
            <a:ext cx="2195830" cy="2631203"/>
          </a:xfrm>
        </p:spPr>
        <p:txBody>
          <a:bodyPr/>
          <a:lstStyle/>
          <a:p>
            <a:endParaRPr lang="en-IN" dirty="0"/>
          </a:p>
        </p:txBody>
      </p:sp>
      <p:sp>
        <p:nvSpPr>
          <p:cNvPr id="6" name="TextBox 5">
            <a:extLst>
              <a:ext uri="{FF2B5EF4-FFF2-40B4-BE49-F238E27FC236}">
                <a16:creationId xmlns:a16="http://schemas.microsoft.com/office/drawing/2014/main" id="{7B26FABD-6151-961E-3D6D-13BB74F200DF}"/>
              </a:ext>
            </a:extLst>
          </p:cNvPr>
          <p:cNvSpPr txBox="1"/>
          <p:nvPr/>
        </p:nvSpPr>
        <p:spPr>
          <a:xfrm>
            <a:off x="830580" y="880667"/>
            <a:ext cx="7185660" cy="289310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VisionCare</a:t>
            </a:r>
            <a:r>
              <a:rPr lang="en-US" dirty="0">
                <a:latin typeface="Times New Roman" panose="02020603050405020304" pitchFamily="18" charset="0"/>
                <a:cs typeface="Times New Roman" panose="02020603050405020304" pitchFamily="18" charset="0"/>
              </a:rPr>
              <a:t> Module Connectivity Architecture illustrates a structured and sequential workflow for hospital patient monitoring. The system begins with the Camera Module, which captures real-time video through IP cameras or CCTV. The data then moves to the Preprocessing Module, where frames are extracted, noise is reduced, and images are resized and normalized to enhance quality. The processed data is sent to the Computer Vision Core, which performs patient detection, movement tracking, and pose estimation to understand patient posture and activity. These outputs are analyzed in the Activity Analysis Module using CNN for spatial feature extraction and LSTM for temporal pattern learning, enabling behavior classification and abnormal event detection. The detected events are verified by the Decision &amp; Validation Engine through threshold checking and temporal validation to reduce false alarms. Finally, validated alerts are sent to the Alert &amp; Notification System for dashboard display and direct notifications, while all incidents are securely stored in the Event Logging Database for record-keeping and audit purposes.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6318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163551" y="9340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
        <p:nvSpPr>
          <p:cNvPr id="2" name="TextBox 1">
            <a:extLst>
              <a:ext uri="{FF2B5EF4-FFF2-40B4-BE49-F238E27FC236}">
                <a16:creationId xmlns:a16="http://schemas.microsoft.com/office/drawing/2014/main" id="{64BA2B27-AE60-9487-F0A9-249ADE9A5052}"/>
              </a:ext>
            </a:extLst>
          </p:cNvPr>
          <p:cNvSpPr txBox="1"/>
          <p:nvPr/>
        </p:nvSpPr>
        <p:spPr>
          <a:xfrm>
            <a:off x="817755" y="945473"/>
            <a:ext cx="7642303" cy="3608232"/>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Base Paper : </a:t>
            </a:r>
            <a:r>
              <a:rPr lang="en-US" dirty="0"/>
              <a:t>A Robust and Automated Vision-Based Human Fall Detection System Using 3D Multi-Stream CNNs with an Image Fusion Technique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Link: </a:t>
            </a:r>
            <a:r>
              <a:rPr lang="en-US" b="1" dirty="0">
                <a:latin typeface="Times New Roman" panose="02020603050405020304" pitchFamily="18" charset="0"/>
                <a:cs typeface="Times New Roman" panose="02020603050405020304" pitchFamily="18" charset="0"/>
                <a:hlinkClick r:id="rId2"/>
              </a:rPr>
              <a:t>https://www.mdpi.com/2076-3417/13/12/6916</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Published:</a:t>
            </a:r>
            <a:r>
              <a:rPr lang="en-US" dirty="0">
                <a:latin typeface="Times New Roman" panose="02020603050405020304" pitchFamily="18" charset="0"/>
                <a:cs typeface="Times New Roman" panose="02020603050405020304" pitchFamily="18" charset="0"/>
              </a:rPr>
              <a:t> 1 June 2023</a:t>
            </a:r>
          </a:p>
          <a:p>
            <a:pPr>
              <a:lnSpc>
                <a:spcPct val="150000"/>
              </a:lnSpc>
            </a:pPr>
            <a:r>
              <a:rPr lang="en-US" b="1" dirty="0">
                <a:latin typeface="Times New Roman" panose="02020603050405020304" pitchFamily="18" charset="0"/>
                <a:cs typeface="Times New Roman" panose="02020603050405020304" pitchFamily="18" charset="0"/>
              </a:rPr>
              <a:t>Summary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paper proposes an automated fall detection system using video footage captured from surveillance cameras. The method uses a multi-stream 3D convolutional neural network (CNN) combined with image fusion and human segmentation preprocessing to identify sequences of actions that represent a fall. The model processes groups of video frames to capture spatial and temporal movement cues, achieving high accuracy (over 99%) on public datasets. The system alerts caregivers when a fall occurs, making it useful for patient or elderly monitoring in healthcare settings.</a:t>
            </a:r>
            <a:endParaRPr lang="en-IN" dirty="0"/>
          </a:p>
        </p:txBody>
      </p:sp>
    </p:spTree>
    <p:extLst>
      <p:ext uri="{BB962C8B-B14F-4D97-AF65-F5344CB8AC3E}">
        <p14:creationId xmlns:p14="http://schemas.microsoft.com/office/powerpoint/2010/main" val="1915797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270D5B3-9DD8-DD8B-7921-F592903AD666}"/>
              </a:ext>
            </a:extLst>
          </p:cNvPr>
          <p:cNvGraphicFramePr>
            <a:graphicFrameLocks noGrp="1"/>
          </p:cNvGraphicFramePr>
          <p:nvPr>
            <p:extLst>
              <p:ext uri="{D42A27DB-BD31-4B8C-83A1-F6EECF244321}">
                <p14:modId xmlns:p14="http://schemas.microsoft.com/office/powerpoint/2010/main" val="1359682093"/>
              </p:ext>
            </p:extLst>
          </p:nvPr>
        </p:nvGraphicFramePr>
        <p:xfrm>
          <a:off x="557560" y="914399"/>
          <a:ext cx="8169880" cy="3936751"/>
        </p:xfrm>
        <a:graphic>
          <a:graphicData uri="http://schemas.openxmlformats.org/drawingml/2006/table">
            <a:tbl>
              <a:tblPr firstRow="1" bandRow="1">
                <a:tableStyleId>{5C22544A-7EE6-4342-B048-85BDC9FD1C3A}</a:tableStyleId>
              </a:tblPr>
              <a:tblGrid>
                <a:gridCol w="669074">
                  <a:extLst>
                    <a:ext uri="{9D8B030D-6E8A-4147-A177-3AD203B41FA5}">
                      <a16:colId xmlns:a16="http://schemas.microsoft.com/office/drawing/2014/main" val="1757416037"/>
                    </a:ext>
                  </a:extLst>
                </a:gridCol>
                <a:gridCol w="1973766">
                  <a:extLst>
                    <a:ext uri="{9D8B030D-6E8A-4147-A177-3AD203B41FA5}">
                      <a16:colId xmlns:a16="http://schemas.microsoft.com/office/drawing/2014/main" val="153015732"/>
                    </a:ext>
                  </a:extLst>
                </a:gridCol>
                <a:gridCol w="782320">
                  <a:extLst>
                    <a:ext uri="{9D8B030D-6E8A-4147-A177-3AD203B41FA5}">
                      <a16:colId xmlns:a16="http://schemas.microsoft.com/office/drawing/2014/main" val="2918487741"/>
                    </a:ext>
                  </a:extLst>
                </a:gridCol>
                <a:gridCol w="2286000">
                  <a:extLst>
                    <a:ext uri="{9D8B030D-6E8A-4147-A177-3AD203B41FA5}">
                      <a16:colId xmlns:a16="http://schemas.microsoft.com/office/drawing/2014/main" val="2565136592"/>
                    </a:ext>
                  </a:extLst>
                </a:gridCol>
                <a:gridCol w="2458720">
                  <a:extLst>
                    <a:ext uri="{9D8B030D-6E8A-4147-A177-3AD203B41FA5}">
                      <a16:colId xmlns:a16="http://schemas.microsoft.com/office/drawing/2014/main" val="3896784273"/>
                    </a:ext>
                  </a:extLst>
                </a:gridCol>
              </a:tblGrid>
              <a:tr h="579864">
                <a:tc>
                  <a:txBody>
                    <a:bodyPr/>
                    <a:lstStyle/>
                    <a:p>
                      <a:r>
                        <a:rPr lang="en-IN" dirty="0"/>
                        <a:t>S.NO</a:t>
                      </a:r>
                    </a:p>
                  </a:txBody>
                  <a:tcPr/>
                </a:tc>
                <a:tc>
                  <a:txBody>
                    <a:bodyPr/>
                    <a:lstStyle/>
                    <a:p>
                      <a:r>
                        <a:rPr lang="en-IN" dirty="0"/>
                        <a:t>Title</a:t>
                      </a:r>
                    </a:p>
                  </a:txBody>
                  <a:tcPr/>
                </a:tc>
                <a:tc>
                  <a:txBody>
                    <a:bodyPr/>
                    <a:lstStyle/>
                    <a:p>
                      <a:r>
                        <a:rPr lang="en-IN" dirty="0"/>
                        <a:t>Year</a:t>
                      </a:r>
                    </a:p>
                  </a:txBody>
                  <a:tcPr/>
                </a:tc>
                <a:tc>
                  <a:txBody>
                    <a:bodyPr/>
                    <a:lstStyle/>
                    <a:p>
                      <a:r>
                        <a:rPr lang="en-IN" dirty="0"/>
                        <a:t>Methodology</a:t>
                      </a:r>
                    </a:p>
                  </a:txBody>
                  <a:tcPr/>
                </a:tc>
                <a:tc>
                  <a:txBody>
                    <a:bodyPr/>
                    <a:lstStyle/>
                    <a:p>
                      <a:r>
                        <a:rPr lang="en-IN" dirty="0"/>
                        <a:t>Results</a:t>
                      </a:r>
                    </a:p>
                  </a:txBody>
                  <a:tcPr/>
                </a:tc>
                <a:extLst>
                  <a:ext uri="{0D108BD9-81ED-4DB2-BD59-A6C34878D82A}">
                    <a16:rowId xmlns:a16="http://schemas.microsoft.com/office/drawing/2014/main" val="1457661392"/>
                  </a:ext>
                </a:extLst>
              </a:tr>
              <a:tr h="1985287">
                <a:tc>
                  <a:txBody>
                    <a:bodyPr/>
                    <a:lstStyle/>
                    <a:p>
                      <a:r>
                        <a:rPr lang="en-IN" dirty="0"/>
                        <a:t>1.</a:t>
                      </a:r>
                    </a:p>
                  </a:txBody>
                  <a:tcPr/>
                </a:tc>
                <a:tc>
                  <a:txBody>
                    <a:bodyPr/>
                    <a:lstStyle/>
                    <a:p>
                      <a:pPr algn="just"/>
                      <a:r>
                        <a:rPr lang="en-US" dirty="0">
                          <a:latin typeface="Times New Roman" panose="02020603050405020304" pitchFamily="18" charset="0"/>
                          <a:cs typeface="Times New Roman" panose="02020603050405020304" pitchFamily="18" charset="0"/>
                        </a:rPr>
                        <a:t>Continuous patient monitoring with AI: real‑time analysis of video in hospital care settings </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2025</a:t>
                      </a:r>
                    </a:p>
                  </a:txBody>
                  <a:tcPr/>
                </a:tc>
                <a:tc>
                  <a:txBody>
                    <a:bodyPr/>
                    <a:lstStyle/>
                    <a:p>
                      <a:pPr>
                        <a:buNone/>
                      </a:pPr>
                      <a:r>
                        <a:rPr lang="en-IN" dirty="0">
                          <a:latin typeface="Times New Roman" panose="02020603050405020304" pitchFamily="18" charset="0"/>
                          <a:cs typeface="Times New Roman" panose="02020603050405020304" pitchFamily="18" charset="0"/>
                        </a:rPr>
                        <a:t>AI‑driven continuous video analysis using object detection, role classification, and motion estimation; cloud aggregation</a:t>
                      </a:r>
                      <a:r>
                        <a:rPr lang="en-IN" dirty="0"/>
                        <a:t>.</a:t>
                      </a:r>
                    </a:p>
                  </a:txBody>
                  <a:tcPr anchor="ctr"/>
                </a:tc>
                <a:tc>
                  <a:txBody>
                    <a:bodyPr/>
                    <a:lstStyle/>
                    <a:p>
                      <a:r>
                        <a:rPr lang="en-US" dirty="0">
                          <a:latin typeface="Times New Roman" panose="02020603050405020304" pitchFamily="18" charset="0"/>
                          <a:cs typeface="Times New Roman" panose="02020603050405020304" pitchFamily="18" charset="0"/>
                        </a:rPr>
                        <a:t>Achieved strong performance in object detection (macro F1‑score ~0.92) and patient role classification (F1 ~0.98), enabling reliable monitoring of isolation and movement patterns.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2064926"/>
                  </a:ext>
                </a:extLst>
              </a:tr>
              <a:tr h="1254673">
                <a:tc>
                  <a:txBody>
                    <a:bodyPr/>
                    <a:lstStyle/>
                    <a:p>
                      <a:r>
                        <a:rPr lang="en-IN" dirty="0"/>
                        <a:t>2.</a:t>
                      </a:r>
                    </a:p>
                  </a:txBody>
                  <a:tcPr/>
                </a:tc>
                <a:tc>
                  <a:txBody>
                    <a:bodyPr/>
                    <a:lstStyle/>
                    <a:p>
                      <a:pPr>
                        <a:buNone/>
                      </a:pPr>
                      <a:r>
                        <a:rPr lang="en-US" dirty="0">
                          <a:latin typeface="Times New Roman" panose="02020603050405020304" pitchFamily="18" charset="0"/>
                          <a:cs typeface="Times New Roman" panose="02020603050405020304" pitchFamily="18" charset="0"/>
                        </a:rPr>
                        <a:t>Deep feature fusion with computer vision driven fall detection approach for enhanced assisted living safety </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2024</a:t>
                      </a:r>
                    </a:p>
                  </a:txBody>
                  <a:tcPr/>
                </a:tc>
                <a:tc>
                  <a:txBody>
                    <a:bodyPr/>
                    <a:lstStyle/>
                    <a:p>
                      <a:r>
                        <a:rPr lang="en-IN" dirty="0">
                          <a:latin typeface="Times New Roman" panose="02020603050405020304" pitchFamily="18" charset="0"/>
                          <a:cs typeface="Times New Roman" panose="02020603050405020304" pitchFamily="18" charset="0"/>
                        </a:rPr>
                        <a:t>Deep Feature Fusion (</a:t>
                      </a:r>
                      <a:r>
                        <a:rPr lang="en-IN" dirty="0" err="1">
                          <a:latin typeface="Times New Roman" panose="02020603050405020304" pitchFamily="18" charset="0"/>
                          <a:cs typeface="Times New Roman" panose="02020603050405020304" pitchFamily="18" charset="0"/>
                        </a:rPr>
                        <a:t>MobileNet</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DenseNet</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ResNet</a:t>
                      </a:r>
                      <a:r>
                        <a:rPr lang="en-IN" dirty="0">
                          <a:latin typeface="Times New Roman" panose="02020603050405020304" pitchFamily="18" charset="0"/>
                          <a:cs typeface="Times New Roman" panose="02020603050405020304" pitchFamily="18" charset="0"/>
                        </a:rPr>
                        <a:t>), Gaussian filtering, IPOA hyperparameter tuning, denoising autoencoder classifier. </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Superior fall detection accuracy (~99.68%) on benchmark datasets; effective noise elimination and deep feature fusion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0921641"/>
                  </a:ext>
                </a:extLst>
              </a:tr>
            </a:tbl>
          </a:graphicData>
        </a:graphic>
      </p:graphicFrame>
      <p:sp>
        <p:nvSpPr>
          <p:cNvPr id="6" name="Google Shape;55;p13">
            <a:extLst>
              <a:ext uri="{FF2B5EF4-FFF2-40B4-BE49-F238E27FC236}">
                <a16:creationId xmlns:a16="http://schemas.microsoft.com/office/drawing/2014/main" id="{8577AB60-A558-0C90-7DF3-72F9A4937E43}"/>
              </a:ext>
            </a:extLst>
          </p:cNvPr>
          <p:cNvSpPr txBox="1">
            <a:spLocks/>
          </p:cNvSpPr>
          <p:nvPr/>
        </p:nvSpPr>
        <p:spPr>
          <a:xfrm>
            <a:off x="163551" y="9340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Tree>
    <p:extLst>
      <p:ext uri="{BB962C8B-B14F-4D97-AF65-F5344CB8AC3E}">
        <p14:creationId xmlns:p14="http://schemas.microsoft.com/office/powerpoint/2010/main" val="3091023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E08DB-F5E3-F266-2559-F21A9C8D8E0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BB3FDFB-9603-2757-DB9A-595F3254A4A2}"/>
              </a:ext>
            </a:extLst>
          </p:cNvPr>
          <p:cNvGraphicFramePr>
            <a:graphicFrameLocks noGrp="1"/>
          </p:cNvGraphicFramePr>
          <p:nvPr>
            <p:extLst>
              <p:ext uri="{D42A27DB-BD31-4B8C-83A1-F6EECF244321}">
                <p14:modId xmlns:p14="http://schemas.microsoft.com/office/powerpoint/2010/main" val="1437433324"/>
              </p:ext>
            </p:extLst>
          </p:nvPr>
        </p:nvGraphicFramePr>
        <p:xfrm>
          <a:off x="557560" y="914399"/>
          <a:ext cx="7984275" cy="3239591"/>
        </p:xfrm>
        <a:graphic>
          <a:graphicData uri="http://schemas.openxmlformats.org/drawingml/2006/table">
            <a:tbl>
              <a:tblPr firstRow="1" bandRow="1">
                <a:tableStyleId>{5C22544A-7EE6-4342-B048-85BDC9FD1C3A}</a:tableStyleId>
              </a:tblPr>
              <a:tblGrid>
                <a:gridCol w="669074">
                  <a:extLst>
                    <a:ext uri="{9D8B030D-6E8A-4147-A177-3AD203B41FA5}">
                      <a16:colId xmlns:a16="http://schemas.microsoft.com/office/drawing/2014/main" val="1757416037"/>
                    </a:ext>
                  </a:extLst>
                </a:gridCol>
                <a:gridCol w="2524636">
                  <a:extLst>
                    <a:ext uri="{9D8B030D-6E8A-4147-A177-3AD203B41FA5}">
                      <a16:colId xmlns:a16="http://schemas.microsoft.com/office/drawing/2014/main" val="153015732"/>
                    </a:ext>
                  </a:extLst>
                </a:gridCol>
                <a:gridCol w="947110">
                  <a:extLst>
                    <a:ext uri="{9D8B030D-6E8A-4147-A177-3AD203B41FA5}">
                      <a16:colId xmlns:a16="http://schemas.microsoft.com/office/drawing/2014/main" val="2918487741"/>
                    </a:ext>
                  </a:extLst>
                </a:gridCol>
                <a:gridCol w="1955181">
                  <a:extLst>
                    <a:ext uri="{9D8B030D-6E8A-4147-A177-3AD203B41FA5}">
                      <a16:colId xmlns:a16="http://schemas.microsoft.com/office/drawing/2014/main" val="2565136592"/>
                    </a:ext>
                  </a:extLst>
                </a:gridCol>
                <a:gridCol w="1888274">
                  <a:extLst>
                    <a:ext uri="{9D8B030D-6E8A-4147-A177-3AD203B41FA5}">
                      <a16:colId xmlns:a16="http://schemas.microsoft.com/office/drawing/2014/main" val="3896784273"/>
                    </a:ext>
                  </a:extLst>
                </a:gridCol>
              </a:tblGrid>
              <a:tr h="579864">
                <a:tc>
                  <a:txBody>
                    <a:bodyPr/>
                    <a:lstStyle/>
                    <a:p>
                      <a:r>
                        <a:rPr lang="en-IN" dirty="0"/>
                        <a:t>S.NO</a:t>
                      </a:r>
                    </a:p>
                  </a:txBody>
                  <a:tcPr/>
                </a:tc>
                <a:tc>
                  <a:txBody>
                    <a:bodyPr/>
                    <a:lstStyle/>
                    <a:p>
                      <a:r>
                        <a:rPr lang="en-IN" dirty="0"/>
                        <a:t>Title</a:t>
                      </a:r>
                    </a:p>
                  </a:txBody>
                  <a:tcPr/>
                </a:tc>
                <a:tc>
                  <a:txBody>
                    <a:bodyPr/>
                    <a:lstStyle/>
                    <a:p>
                      <a:r>
                        <a:rPr lang="en-IN" dirty="0"/>
                        <a:t>Year</a:t>
                      </a:r>
                    </a:p>
                  </a:txBody>
                  <a:tcPr/>
                </a:tc>
                <a:tc>
                  <a:txBody>
                    <a:bodyPr/>
                    <a:lstStyle/>
                    <a:p>
                      <a:r>
                        <a:rPr lang="en-IN" dirty="0"/>
                        <a:t>Methodology</a:t>
                      </a:r>
                    </a:p>
                  </a:txBody>
                  <a:tcPr/>
                </a:tc>
                <a:tc>
                  <a:txBody>
                    <a:bodyPr/>
                    <a:lstStyle/>
                    <a:p>
                      <a:r>
                        <a:rPr lang="en-IN" dirty="0"/>
                        <a:t>Results</a:t>
                      </a:r>
                    </a:p>
                  </a:txBody>
                  <a:tcPr/>
                </a:tc>
                <a:extLst>
                  <a:ext uri="{0D108BD9-81ED-4DB2-BD59-A6C34878D82A}">
                    <a16:rowId xmlns:a16="http://schemas.microsoft.com/office/drawing/2014/main" val="1457661392"/>
                  </a:ext>
                </a:extLst>
              </a:tr>
              <a:tr h="1405054">
                <a:tc>
                  <a:txBody>
                    <a:bodyPr/>
                    <a:lstStyle/>
                    <a:p>
                      <a:r>
                        <a:rPr lang="en-IN" dirty="0"/>
                        <a:t>3.</a:t>
                      </a:r>
                    </a:p>
                  </a:txBody>
                  <a:tcPr/>
                </a:tc>
                <a:tc>
                  <a:txBody>
                    <a:bodyPr/>
                    <a:lstStyle/>
                    <a:p>
                      <a:pPr algn="just"/>
                      <a:r>
                        <a:rPr lang="en-US" dirty="0">
                          <a:latin typeface="Times New Roman" panose="02020603050405020304" pitchFamily="18" charset="0"/>
                          <a:cs typeface="Times New Roman" panose="02020603050405020304" pitchFamily="18" charset="0"/>
                        </a:rPr>
                        <a:t>Vision‑Based Fall Detector for Elderly Based on Sliding Window Approach and Feature Engineering</a:t>
                      </a:r>
                      <a:endParaRPr lang="en-IN"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2025</a:t>
                      </a:r>
                    </a:p>
                  </a:txBody>
                  <a:tcPr/>
                </a:tc>
                <a:tc>
                  <a:txBody>
                    <a:bodyPr/>
                    <a:lstStyle/>
                    <a:p>
                      <a:r>
                        <a:rPr lang="en-US" dirty="0">
                          <a:latin typeface="Times New Roman" panose="02020603050405020304" pitchFamily="18" charset="0"/>
                          <a:cs typeface="Times New Roman" panose="02020603050405020304" pitchFamily="18" charset="0"/>
                        </a:rPr>
                        <a:t>Sliding window motion analysis + feature engineering with principal component analysis + gradient boosting classification.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High detection accuracy (~96%) with low processing time, practical for real‑time fall monitoring.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2064926"/>
                  </a:ext>
                </a:extLst>
              </a:tr>
              <a:tr h="1254673">
                <a:tc>
                  <a:txBody>
                    <a:bodyPr/>
                    <a:lstStyle/>
                    <a:p>
                      <a:r>
                        <a:rPr lang="en-IN" dirty="0"/>
                        <a:t>4.</a:t>
                      </a:r>
                    </a:p>
                  </a:txBody>
                  <a:tcPr/>
                </a:tc>
                <a:tc>
                  <a:txBody>
                    <a:bodyPr/>
                    <a:lstStyle/>
                    <a:p>
                      <a:pPr algn="just"/>
                      <a:r>
                        <a:rPr lang="en-US" dirty="0">
                          <a:latin typeface="Times New Roman" panose="02020603050405020304" pitchFamily="18" charset="0"/>
                          <a:cs typeface="Times New Roman" panose="02020603050405020304" pitchFamily="18" charset="0"/>
                        </a:rPr>
                        <a:t>LFD‑YOLO: a lightweight fall detection network with enhanced feature extraction &amp; fusion </a:t>
                      </a:r>
                      <a:endParaRPr lang="en-IN"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2025</a:t>
                      </a:r>
                    </a:p>
                  </a:txBody>
                  <a:tcPr/>
                </a:tc>
                <a:tc>
                  <a:txBody>
                    <a:bodyPr/>
                    <a:lstStyle/>
                    <a:p>
                      <a:r>
                        <a:rPr lang="en-US" dirty="0">
                          <a:latin typeface="Times New Roman" panose="02020603050405020304" pitchFamily="18" charset="0"/>
                          <a:cs typeface="Times New Roman" panose="02020603050405020304" pitchFamily="18" charset="0"/>
                        </a:rPr>
                        <a:t>YOLO‑based lightweight vision model with enhanced feature fusion for fall detection.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Demonstrated efficient fall detection with improved feature extraction and real‑time applicability.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0921641"/>
                  </a:ext>
                </a:extLst>
              </a:tr>
            </a:tbl>
          </a:graphicData>
        </a:graphic>
      </p:graphicFrame>
      <p:sp>
        <p:nvSpPr>
          <p:cNvPr id="2" name="Google Shape;55;p13">
            <a:extLst>
              <a:ext uri="{FF2B5EF4-FFF2-40B4-BE49-F238E27FC236}">
                <a16:creationId xmlns:a16="http://schemas.microsoft.com/office/drawing/2014/main" id="{3A320B3F-64C4-B191-7CB0-20CDC064B31D}"/>
              </a:ext>
            </a:extLst>
          </p:cNvPr>
          <p:cNvSpPr txBox="1">
            <a:spLocks/>
          </p:cNvSpPr>
          <p:nvPr/>
        </p:nvSpPr>
        <p:spPr>
          <a:xfrm>
            <a:off x="163551" y="9340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Tree>
    <p:extLst>
      <p:ext uri="{BB962C8B-B14F-4D97-AF65-F5344CB8AC3E}">
        <p14:creationId xmlns:p14="http://schemas.microsoft.com/office/powerpoint/2010/main" val="3829869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29B23-719F-BD27-B1C1-5B091B3D290C}"/>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5044EB8-8C25-1931-2AFF-236E84B2A3F7}"/>
              </a:ext>
            </a:extLst>
          </p:cNvPr>
          <p:cNvGraphicFramePr>
            <a:graphicFrameLocks noGrp="1"/>
          </p:cNvGraphicFramePr>
          <p:nvPr>
            <p:extLst>
              <p:ext uri="{D42A27DB-BD31-4B8C-83A1-F6EECF244321}">
                <p14:modId xmlns:p14="http://schemas.microsoft.com/office/powerpoint/2010/main" val="1130251304"/>
              </p:ext>
            </p:extLst>
          </p:nvPr>
        </p:nvGraphicFramePr>
        <p:xfrm>
          <a:off x="483218" y="743415"/>
          <a:ext cx="7984275" cy="4185424"/>
        </p:xfrm>
        <a:graphic>
          <a:graphicData uri="http://schemas.openxmlformats.org/drawingml/2006/table">
            <a:tbl>
              <a:tblPr firstRow="1" bandRow="1">
                <a:tableStyleId>{5C22544A-7EE6-4342-B048-85BDC9FD1C3A}</a:tableStyleId>
              </a:tblPr>
              <a:tblGrid>
                <a:gridCol w="669074">
                  <a:extLst>
                    <a:ext uri="{9D8B030D-6E8A-4147-A177-3AD203B41FA5}">
                      <a16:colId xmlns:a16="http://schemas.microsoft.com/office/drawing/2014/main" val="1757416037"/>
                    </a:ext>
                  </a:extLst>
                </a:gridCol>
                <a:gridCol w="2524636">
                  <a:extLst>
                    <a:ext uri="{9D8B030D-6E8A-4147-A177-3AD203B41FA5}">
                      <a16:colId xmlns:a16="http://schemas.microsoft.com/office/drawing/2014/main" val="153015732"/>
                    </a:ext>
                  </a:extLst>
                </a:gridCol>
                <a:gridCol w="947110">
                  <a:extLst>
                    <a:ext uri="{9D8B030D-6E8A-4147-A177-3AD203B41FA5}">
                      <a16:colId xmlns:a16="http://schemas.microsoft.com/office/drawing/2014/main" val="2918487741"/>
                    </a:ext>
                  </a:extLst>
                </a:gridCol>
                <a:gridCol w="1955181">
                  <a:extLst>
                    <a:ext uri="{9D8B030D-6E8A-4147-A177-3AD203B41FA5}">
                      <a16:colId xmlns:a16="http://schemas.microsoft.com/office/drawing/2014/main" val="2565136592"/>
                    </a:ext>
                  </a:extLst>
                </a:gridCol>
                <a:gridCol w="1888274">
                  <a:extLst>
                    <a:ext uri="{9D8B030D-6E8A-4147-A177-3AD203B41FA5}">
                      <a16:colId xmlns:a16="http://schemas.microsoft.com/office/drawing/2014/main" val="3896784273"/>
                    </a:ext>
                  </a:extLst>
                </a:gridCol>
              </a:tblGrid>
              <a:tr h="447551">
                <a:tc>
                  <a:txBody>
                    <a:bodyPr/>
                    <a:lstStyle/>
                    <a:p>
                      <a:r>
                        <a:rPr lang="en-IN" dirty="0"/>
                        <a:t>S.NO</a:t>
                      </a:r>
                    </a:p>
                  </a:txBody>
                  <a:tcPr/>
                </a:tc>
                <a:tc>
                  <a:txBody>
                    <a:bodyPr/>
                    <a:lstStyle/>
                    <a:p>
                      <a:r>
                        <a:rPr lang="en-IN" dirty="0"/>
                        <a:t>Title</a:t>
                      </a:r>
                    </a:p>
                  </a:txBody>
                  <a:tcPr/>
                </a:tc>
                <a:tc>
                  <a:txBody>
                    <a:bodyPr/>
                    <a:lstStyle/>
                    <a:p>
                      <a:r>
                        <a:rPr lang="en-IN" dirty="0"/>
                        <a:t>Year</a:t>
                      </a:r>
                    </a:p>
                  </a:txBody>
                  <a:tcPr/>
                </a:tc>
                <a:tc>
                  <a:txBody>
                    <a:bodyPr/>
                    <a:lstStyle/>
                    <a:p>
                      <a:r>
                        <a:rPr lang="en-IN" dirty="0"/>
                        <a:t>Methodology</a:t>
                      </a:r>
                    </a:p>
                  </a:txBody>
                  <a:tcPr/>
                </a:tc>
                <a:tc>
                  <a:txBody>
                    <a:bodyPr/>
                    <a:lstStyle/>
                    <a:p>
                      <a:r>
                        <a:rPr lang="en-IN" dirty="0"/>
                        <a:t>Results</a:t>
                      </a:r>
                    </a:p>
                  </a:txBody>
                  <a:tcPr/>
                </a:tc>
                <a:extLst>
                  <a:ext uri="{0D108BD9-81ED-4DB2-BD59-A6C34878D82A}">
                    <a16:rowId xmlns:a16="http://schemas.microsoft.com/office/drawing/2014/main" val="1457661392"/>
                  </a:ext>
                </a:extLst>
              </a:tr>
              <a:tr h="1336646">
                <a:tc>
                  <a:txBody>
                    <a:bodyPr/>
                    <a:lstStyle/>
                    <a:p>
                      <a:r>
                        <a:rPr lang="en-IN" dirty="0"/>
                        <a:t>5.</a:t>
                      </a:r>
                    </a:p>
                  </a:txBody>
                  <a:tcPr/>
                </a:tc>
                <a:tc>
                  <a:txBody>
                    <a:bodyPr/>
                    <a:lstStyle/>
                    <a:p>
                      <a:pPr algn="just"/>
                      <a:r>
                        <a:rPr lang="en-US" dirty="0" err="1">
                          <a:latin typeface="Times New Roman" panose="02020603050405020304" pitchFamily="18" charset="0"/>
                          <a:cs typeface="Times New Roman" panose="02020603050405020304" pitchFamily="18" charset="0"/>
                        </a:rPr>
                        <a:t>ElderFallGuard</a:t>
                      </a:r>
                      <a:r>
                        <a:rPr lang="en-US" dirty="0">
                          <a:latin typeface="Times New Roman" panose="02020603050405020304" pitchFamily="18" charset="0"/>
                          <a:cs typeface="Times New Roman" panose="02020603050405020304" pitchFamily="18" charset="0"/>
                        </a:rPr>
                        <a:t>: Real‑Time IoT &amp; Computer Vision‑Based Fall Detection System for Elderly Safety</a:t>
                      </a:r>
                      <a:endParaRPr lang="en-IN"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2025</a:t>
                      </a:r>
                    </a:p>
                  </a:txBody>
                  <a:tcPr/>
                </a:tc>
                <a:tc>
                  <a:txBody>
                    <a:bodyPr/>
                    <a:lstStyle/>
                    <a:p>
                      <a:r>
                        <a:rPr lang="fr-FR" dirty="0">
                          <a:latin typeface="Times New Roman" panose="02020603050405020304" pitchFamily="18" charset="0"/>
                          <a:cs typeface="Times New Roman" panose="02020603050405020304" pitchFamily="18" charset="0"/>
                        </a:rPr>
                        <a:t>Computer vision + IoT; </a:t>
                      </a:r>
                      <a:r>
                        <a:rPr lang="fr-FR" dirty="0" err="1">
                          <a:latin typeface="Times New Roman" panose="02020603050405020304" pitchFamily="18" charset="0"/>
                          <a:cs typeface="Times New Roman" panose="02020603050405020304" pitchFamily="18" charset="0"/>
                        </a:rPr>
                        <a:t>MediaPipe</a:t>
                      </a:r>
                      <a:r>
                        <a:rPr lang="fr-FR" dirty="0">
                          <a:latin typeface="Times New Roman" panose="02020603050405020304" pitchFamily="18" charset="0"/>
                          <a:cs typeface="Times New Roman" panose="02020603050405020304" pitchFamily="18" charset="0"/>
                        </a:rPr>
                        <a:t> pose estimation + </a:t>
                      </a:r>
                      <a:r>
                        <a:rPr lang="fr-FR" dirty="0" err="1">
                          <a:latin typeface="Times New Roman" panose="02020603050405020304" pitchFamily="18" charset="0"/>
                          <a:cs typeface="Times New Roman" panose="02020603050405020304" pitchFamily="18" charset="0"/>
                        </a:rPr>
                        <a:t>random</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forest</a:t>
                      </a:r>
                      <a:r>
                        <a:rPr lang="fr-FR" dirty="0">
                          <a:latin typeface="Times New Roman" panose="02020603050405020304" pitchFamily="18" charset="0"/>
                          <a:cs typeface="Times New Roman" panose="02020603050405020304" pitchFamily="18" charset="0"/>
                        </a:rPr>
                        <a:t> classifier + </a:t>
                      </a:r>
                      <a:r>
                        <a:rPr lang="fr-FR" dirty="0" err="1">
                          <a:latin typeface="Times New Roman" panose="02020603050405020304" pitchFamily="18" charset="0"/>
                          <a:cs typeface="Times New Roman" panose="02020603050405020304" pitchFamily="18" charset="0"/>
                        </a:rPr>
                        <a:t>alert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logic</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Achieved 100% accuracy, precision, recall, and F1 in fall detection on custom dataset; real‑time alerts included.</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2064926"/>
                  </a:ext>
                </a:extLst>
              </a:tr>
              <a:tr h="1176811">
                <a:tc>
                  <a:txBody>
                    <a:bodyPr/>
                    <a:lstStyle/>
                    <a:p>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Fall Detection by Deep Learning‑Based Bimodal Movement &amp; Pose Sensing with Late Fusion</a:t>
                      </a:r>
                      <a:endParaRPr lang="en-IN"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Bimodal sensing (inertial + visual pose) using deep autoencoder + attention network with late fusion.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Improved robustness in fall detection compared to single‑modality methods (results pending full metrics).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06716310"/>
                  </a:ext>
                </a:extLst>
              </a:tr>
              <a:tr h="1189462">
                <a:tc>
                  <a:txBody>
                    <a:bodyPr/>
                    <a:lstStyle/>
                    <a:p>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Vision‑Based Activity Recognition for Unobtrusive Monitoring of the Elderly</a:t>
                      </a:r>
                      <a:endParaRPr lang="en-IN"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Computer vision + anomaly detection for video‑based daily activity recognition of elderly subjects.</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Showed promise for recognizing patterns and anomalies in elderly movement data without wearables.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25435750"/>
                  </a:ext>
                </a:extLst>
              </a:tr>
            </a:tbl>
          </a:graphicData>
        </a:graphic>
      </p:graphicFrame>
      <p:sp>
        <p:nvSpPr>
          <p:cNvPr id="2" name="Google Shape;55;p13">
            <a:extLst>
              <a:ext uri="{FF2B5EF4-FFF2-40B4-BE49-F238E27FC236}">
                <a16:creationId xmlns:a16="http://schemas.microsoft.com/office/drawing/2014/main" id="{FC5F3CD0-1186-8B34-E405-3C6DDA4B4DBB}"/>
              </a:ext>
            </a:extLst>
          </p:cNvPr>
          <p:cNvSpPr txBox="1">
            <a:spLocks/>
          </p:cNvSpPr>
          <p:nvPr/>
        </p:nvSpPr>
        <p:spPr>
          <a:xfrm>
            <a:off x="163551" y="9340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Tree>
    <p:extLst>
      <p:ext uri="{BB962C8B-B14F-4D97-AF65-F5344CB8AC3E}">
        <p14:creationId xmlns:p14="http://schemas.microsoft.com/office/powerpoint/2010/main" val="710165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BB5D3-26E4-B6E2-D598-51AD48C3B8A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7F3F87C-8CD7-2800-4BF3-B2B278F66627}"/>
              </a:ext>
            </a:extLst>
          </p:cNvPr>
          <p:cNvGraphicFramePr>
            <a:graphicFrameLocks noGrp="1"/>
          </p:cNvGraphicFramePr>
          <p:nvPr>
            <p:extLst>
              <p:ext uri="{D42A27DB-BD31-4B8C-83A1-F6EECF244321}">
                <p14:modId xmlns:p14="http://schemas.microsoft.com/office/powerpoint/2010/main" val="1751992936"/>
              </p:ext>
            </p:extLst>
          </p:nvPr>
        </p:nvGraphicFramePr>
        <p:xfrm>
          <a:off x="483218" y="743415"/>
          <a:ext cx="8303943" cy="4150470"/>
        </p:xfrm>
        <a:graphic>
          <a:graphicData uri="http://schemas.openxmlformats.org/drawingml/2006/table">
            <a:tbl>
              <a:tblPr firstRow="1" bandRow="1">
                <a:tableStyleId>{5C22544A-7EE6-4342-B048-85BDC9FD1C3A}</a:tableStyleId>
              </a:tblPr>
              <a:tblGrid>
                <a:gridCol w="669074">
                  <a:extLst>
                    <a:ext uri="{9D8B030D-6E8A-4147-A177-3AD203B41FA5}">
                      <a16:colId xmlns:a16="http://schemas.microsoft.com/office/drawing/2014/main" val="1757416037"/>
                    </a:ext>
                  </a:extLst>
                </a:gridCol>
                <a:gridCol w="1962615">
                  <a:extLst>
                    <a:ext uri="{9D8B030D-6E8A-4147-A177-3AD203B41FA5}">
                      <a16:colId xmlns:a16="http://schemas.microsoft.com/office/drawing/2014/main" val="153015732"/>
                    </a:ext>
                  </a:extLst>
                </a:gridCol>
                <a:gridCol w="810322">
                  <a:extLst>
                    <a:ext uri="{9D8B030D-6E8A-4147-A177-3AD203B41FA5}">
                      <a16:colId xmlns:a16="http://schemas.microsoft.com/office/drawing/2014/main" val="2918487741"/>
                    </a:ext>
                  </a:extLst>
                </a:gridCol>
                <a:gridCol w="2386361">
                  <a:extLst>
                    <a:ext uri="{9D8B030D-6E8A-4147-A177-3AD203B41FA5}">
                      <a16:colId xmlns:a16="http://schemas.microsoft.com/office/drawing/2014/main" val="2565136592"/>
                    </a:ext>
                  </a:extLst>
                </a:gridCol>
                <a:gridCol w="2475571">
                  <a:extLst>
                    <a:ext uri="{9D8B030D-6E8A-4147-A177-3AD203B41FA5}">
                      <a16:colId xmlns:a16="http://schemas.microsoft.com/office/drawing/2014/main" val="3896784273"/>
                    </a:ext>
                  </a:extLst>
                </a:gridCol>
              </a:tblGrid>
              <a:tr h="447551">
                <a:tc>
                  <a:txBody>
                    <a:bodyPr/>
                    <a:lstStyle/>
                    <a:p>
                      <a:r>
                        <a:rPr lang="en-IN" dirty="0"/>
                        <a:t>S.NO</a:t>
                      </a:r>
                    </a:p>
                  </a:txBody>
                  <a:tcPr/>
                </a:tc>
                <a:tc>
                  <a:txBody>
                    <a:bodyPr/>
                    <a:lstStyle/>
                    <a:p>
                      <a:r>
                        <a:rPr lang="en-IN" dirty="0"/>
                        <a:t>Title</a:t>
                      </a:r>
                    </a:p>
                  </a:txBody>
                  <a:tcPr/>
                </a:tc>
                <a:tc>
                  <a:txBody>
                    <a:bodyPr/>
                    <a:lstStyle/>
                    <a:p>
                      <a:r>
                        <a:rPr lang="en-IN" dirty="0"/>
                        <a:t>Year</a:t>
                      </a:r>
                    </a:p>
                  </a:txBody>
                  <a:tcPr/>
                </a:tc>
                <a:tc>
                  <a:txBody>
                    <a:bodyPr/>
                    <a:lstStyle/>
                    <a:p>
                      <a:r>
                        <a:rPr lang="en-IN" dirty="0"/>
                        <a:t>Methodology</a:t>
                      </a:r>
                    </a:p>
                  </a:txBody>
                  <a:tcPr/>
                </a:tc>
                <a:tc>
                  <a:txBody>
                    <a:bodyPr/>
                    <a:lstStyle/>
                    <a:p>
                      <a:r>
                        <a:rPr lang="en-IN" dirty="0"/>
                        <a:t>Results</a:t>
                      </a:r>
                    </a:p>
                  </a:txBody>
                  <a:tcPr/>
                </a:tc>
                <a:extLst>
                  <a:ext uri="{0D108BD9-81ED-4DB2-BD59-A6C34878D82A}">
                    <a16:rowId xmlns:a16="http://schemas.microsoft.com/office/drawing/2014/main" val="1457661392"/>
                  </a:ext>
                </a:extLst>
              </a:tr>
              <a:tr h="1336646">
                <a:tc>
                  <a:txBody>
                    <a:bodyPr/>
                    <a:lstStyle/>
                    <a:p>
                      <a:r>
                        <a:rPr lang="en-IN" dirty="0">
                          <a:latin typeface="Times New Roman" panose="02020603050405020304" pitchFamily="18" charset="0"/>
                          <a:cs typeface="Times New Roman" panose="02020603050405020304" pitchFamily="18" charset="0"/>
                        </a:rPr>
                        <a:t>8.</a:t>
                      </a:r>
                    </a:p>
                  </a:txBody>
                  <a:tcPr/>
                </a:tc>
                <a:tc>
                  <a:txBody>
                    <a:bodyPr/>
                    <a:lstStyle/>
                    <a:p>
                      <a:pPr algn="just"/>
                      <a:r>
                        <a:rPr lang="en-US" dirty="0">
                          <a:latin typeface="Times New Roman" panose="02020603050405020304" pitchFamily="18" charset="0"/>
                          <a:cs typeface="Times New Roman" panose="02020603050405020304" pitchFamily="18" charset="0"/>
                        </a:rPr>
                        <a:t>Real‑Time Human Action Recognition for Assisted Living</a:t>
                      </a:r>
                      <a:endParaRPr lang="en-IN"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2025</a:t>
                      </a:r>
                    </a:p>
                  </a:txBody>
                  <a:tcPr/>
                </a:tc>
                <a:tc>
                  <a:txBody>
                    <a:bodyPr/>
                    <a:lstStyle/>
                    <a:p>
                      <a:r>
                        <a:rPr lang="en-US" dirty="0">
                          <a:latin typeface="Times New Roman" panose="02020603050405020304" pitchFamily="18" charset="0"/>
                          <a:cs typeface="Times New Roman" panose="02020603050405020304" pitchFamily="18" charset="0"/>
                        </a:rPr>
                        <a:t>Vision‑based action recognition using deep learning (CNN/LSTM) for assistive behavior classification.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Demonstrated effectiveness in classifying assisted living activities including falls and distress.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2064926"/>
                  </a:ext>
                </a:extLst>
              </a:tr>
              <a:tr h="1176811">
                <a:tc>
                  <a:txBody>
                    <a:bodyPr/>
                    <a:lstStyle/>
                    <a:p>
                      <a:r>
                        <a:rPr lang="en-US" dirty="0">
                          <a:latin typeface="Times New Roman" panose="02020603050405020304" pitchFamily="18" charset="0"/>
                          <a:cs typeface="Times New Roman" panose="02020603050405020304" pitchFamily="18" charset="0"/>
                        </a:rPr>
                        <a:t>9.</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Research on Fall Detection Based on Vision &amp; Wearable Devices</a:t>
                      </a:r>
                      <a:endParaRPr lang="en-IN"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Review of hybrid vision and wearable sensor approaches for fall detection.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Highlights the benefits and limitations of integrated vision + sensor systems; identifies opportunities for pure vision methods.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06716310"/>
                  </a:ext>
                </a:extLst>
              </a:tr>
              <a:tr h="1189462">
                <a:tc>
                  <a:txBody>
                    <a:bodyPr/>
                    <a:lstStyle/>
                    <a:p>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Vision‑Based Monitoring for Healthcare Safety (Sci Rep / related)</a:t>
                      </a:r>
                      <a:endParaRPr lang="en-IN"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Advanced YOLO or enhanced object detection + temporal motion analysis for real‑time healthcare event detection.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Advanced YOLO or enhanced object detection + temporal motion analysis for real‑time healthcare event detection.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25435750"/>
                  </a:ext>
                </a:extLst>
              </a:tr>
            </a:tbl>
          </a:graphicData>
        </a:graphic>
      </p:graphicFrame>
      <p:sp>
        <p:nvSpPr>
          <p:cNvPr id="2" name="Google Shape;55;p13">
            <a:extLst>
              <a:ext uri="{FF2B5EF4-FFF2-40B4-BE49-F238E27FC236}">
                <a16:creationId xmlns:a16="http://schemas.microsoft.com/office/drawing/2014/main" id="{3DA14104-B762-5F12-1BCE-7C5342ABAA93}"/>
              </a:ext>
            </a:extLst>
          </p:cNvPr>
          <p:cNvSpPr txBox="1">
            <a:spLocks/>
          </p:cNvSpPr>
          <p:nvPr/>
        </p:nvSpPr>
        <p:spPr>
          <a:xfrm>
            <a:off x="163551" y="9340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Tree>
    <p:extLst>
      <p:ext uri="{BB962C8B-B14F-4D97-AF65-F5344CB8AC3E}">
        <p14:creationId xmlns:p14="http://schemas.microsoft.com/office/powerpoint/2010/main" val="1746702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Software &amp; Hardware Requirements</a:t>
            </a:r>
          </a:p>
        </p:txBody>
      </p:sp>
      <p:sp>
        <p:nvSpPr>
          <p:cNvPr id="2" name="TextBox 1">
            <a:extLst>
              <a:ext uri="{FF2B5EF4-FFF2-40B4-BE49-F238E27FC236}">
                <a16:creationId xmlns:a16="http://schemas.microsoft.com/office/drawing/2014/main" id="{BA613730-DD07-1A66-9FA5-ACFF713B81ED}"/>
              </a:ext>
            </a:extLst>
          </p:cNvPr>
          <p:cNvSpPr txBox="1"/>
          <p:nvPr/>
        </p:nvSpPr>
        <p:spPr>
          <a:xfrm>
            <a:off x="599192" y="969526"/>
            <a:ext cx="5174166" cy="52322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Software Requirements</a:t>
            </a:r>
          </a:p>
          <a:p>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7219A26-2CF1-1D09-4C9E-B6A55AC42658}"/>
              </a:ext>
            </a:extLst>
          </p:cNvPr>
          <p:cNvSpPr txBox="1"/>
          <p:nvPr/>
        </p:nvSpPr>
        <p:spPr>
          <a:xfrm>
            <a:off x="4572000" y="969526"/>
            <a:ext cx="3687335" cy="52322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Hardware Requirements</a:t>
            </a:r>
          </a:p>
          <a:p>
            <a:endParaRPr lang="en-IN"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05FA5F8B-6D1C-8A8E-0315-CEC9C1FAB315}"/>
              </a:ext>
            </a:extLst>
          </p:cNvPr>
          <p:cNvSpPr>
            <a:spLocks noChangeArrowheads="1"/>
          </p:cNvSpPr>
          <p:nvPr/>
        </p:nvSpPr>
        <p:spPr bwMode="auto">
          <a:xfrm>
            <a:off x="599192" y="1207232"/>
            <a:ext cx="3642344" cy="29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System: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Windows / Linux</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 &amp; Frameworks: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 – Image processing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PoseNet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Human pose estimation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TensorFlow /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Deep learning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 / Django – Web application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MySQL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Tools: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VS Code,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Jupyter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Notebook</a:t>
            </a:r>
          </a:p>
        </p:txBody>
      </p:sp>
      <p:sp>
        <p:nvSpPr>
          <p:cNvPr id="7" name="Rectangle 2">
            <a:extLst>
              <a:ext uri="{FF2B5EF4-FFF2-40B4-BE49-F238E27FC236}">
                <a16:creationId xmlns:a16="http://schemas.microsoft.com/office/drawing/2014/main" id="{DFE9FA53-AAB6-AD54-B8A0-005AE77A1750}"/>
              </a:ext>
            </a:extLst>
          </p:cNvPr>
          <p:cNvSpPr>
            <a:spLocks noChangeArrowheads="1"/>
          </p:cNvSpPr>
          <p:nvPr/>
        </p:nvSpPr>
        <p:spPr bwMode="auto">
          <a:xfrm>
            <a:off x="4572000" y="1285495"/>
            <a:ext cx="2949846" cy="16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CCTV / IP Camera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Computer / Server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Internet connectivity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 display for dashboard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Optional: Edge device (Raspberry Pi)</a:t>
            </a:r>
          </a:p>
        </p:txBody>
      </p:sp>
    </p:spTree>
    <p:extLst>
      <p:ext uri="{BB962C8B-B14F-4D97-AF65-F5344CB8AC3E}">
        <p14:creationId xmlns:p14="http://schemas.microsoft.com/office/powerpoint/2010/main" val="3905995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DAC6-9B3A-5E76-7FEF-3B9DB4CD903E}"/>
              </a:ext>
            </a:extLst>
          </p:cNvPr>
          <p:cNvSpPr>
            <a:spLocks noGrp="1"/>
          </p:cNvSpPr>
          <p:nvPr>
            <p:ph type="title"/>
          </p:nvPr>
        </p:nvSpPr>
        <p:spPr>
          <a:xfrm>
            <a:off x="311700" y="87339"/>
            <a:ext cx="8520600" cy="841800"/>
          </a:xfrm>
        </p:spPr>
        <p:txBody>
          <a:bodyPr/>
          <a:lstStyle/>
          <a:p>
            <a:r>
              <a:rPr lang="en-IN" b="1" dirty="0">
                <a:latin typeface="Times New Roman" panose="02020603050405020304" pitchFamily="18" charset="0"/>
                <a:cs typeface="Times New Roman" panose="02020603050405020304" pitchFamily="18" charset="0"/>
              </a:rPr>
              <a:t>Gaps Identified</a:t>
            </a:r>
          </a:p>
        </p:txBody>
      </p:sp>
      <p:sp>
        <p:nvSpPr>
          <p:cNvPr id="4" name="Rectangle 1">
            <a:extLst>
              <a:ext uri="{FF2B5EF4-FFF2-40B4-BE49-F238E27FC236}">
                <a16:creationId xmlns:a16="http://schemas.microsoft.com/office/drawing/2014/main" id="{30AF0350-D70B-1F88-FFE3-3E3DAD638ACD}"/>
              </a:ext>
            </a:extLst>
          </p:cNvPr>
          <p:cNvSpPr>
            <a:spLocks noChangeArrowheads="1"/>
          </p:cNvSpPr>
          <p:nvPr/>
        </p:nvSpPr>
        <p:spPr bwMode="auto">
          <a:xfrm>
            <a:off x="505100" y="929139"/>
            <a:ext cx="8133800"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Continuous Monitoring: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Manual observation cannot provide uninterrupted monitoring for all patients at all times.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Dependency on Wearable Sensors: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Sensor-based systems may cause discomfort, require maintenance, and are prone to failure or misuse.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Delayed Emergency Detection: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Critical incidents such as falls may not be noticed immediately, leading to delayed medical response.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Intelligence in CCTV Systems: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Traditional CCTV systems only record footage and do not automatically detect abnormal events.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Workload on Medical Staff:</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Continuous patient supervision increases the burden on nurses and caregivers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80285644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AB19-Review1</Template>
  <TotalTime>171</TotalTime>
  <Words>2003</Words>
  <Application>Microsoft Office PowerPoint</Application>
  <PresentationFormat>On-screen Show (16:9)</PresentationFormat>
  <Paragraphs>133</Paragraphs>
  <Slides>18</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Arial</vt:lpstr>
      <vt:lpstr>Calibri</vt:lpstr>
      <vt:lpstr>Calibri Light</vt:lpstr>
      <vt:lpstr>Times New Roman</vt:lpstr>
      <vt:lpstr>Simple Light</vt:lpstr>
      <vt:lpstr>Office Theme</vt:lpstr>
      <vt:lpstr>   Gokaraju Rangaraju Institute of Engineering and Technology  (Autonomous) Department of CSE(AI&amp;ML)</vt:lpstr>
      <vt:lpstr> VISIONCARE Vision-Based Real-Time Patient Monitoring System</vt:lpstr>
      <vt:lpstr>Introduction</vt:lpstr>
      <vt:lpstr>Problem Statement</vt:lpstr>
      <vt:lpstr>PowerPoint Presentation</vt:lpstr>
      <vt:lpstr>Objectives of the Project</vt:lpstr>
      <vt:lpstr>Methodology &amp; Implementation</vt:lpstr>
      <vt:lpstr>System Architecture Diagram</vt:lpstr>
      <vt:lpstr>Description</vt:lpstr>
      <vt:lpstr>Module Connectivity Diagram</vt:lpstr>
      <vt:lpstr>Description</vt:lpstr>
      <vt:lpstr>PowerPoint Presentation</vt:lpstr>
      <vt:lpstr>PowerPoint Presentation</vt:lpstr>
      <vt:lpstr>PowerPoint Presentation</vt:lpstr>
      <vt:lpstr>PowerPoint Presentation</vt:lpstr>
      <vt:lpstr>PowerPoint Presentation</vt:lpstr>
      <vt:lpstr>PowerPoint Presentation</vt:lpstr>
      <vt:lpstr>Gaps Identified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RAPOLU SRAVANI</dc:creator>
  <cp:lastModifiedBy>RAPOLU SRAVANI</cp:lastModifiedBy>
  <cp:revision>2</cp:revision>
  <dcterms:created xsi:type="dcterms:W3CDTF">2026-01-23T16:26:24Z</dcterms:created>
  <dcterms:modified xsi:type="dcterms:W3CDTF">2026-02-13T11:32:44Z</dcterms:modified>
</cp:coreProperties>
</file>